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media/image16.svg" ContentType="image/svg+xml"/>
  <Override PartName="/ppt/media/image18.svg" ContentType="image/svg+xml"/>
  <Override PartName="/ppt/media/image20.svg" ContentType="image/svg+xml"/>
  <Override PartName="/ppt/media/image5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</p:sldIdLst>
  <p:sldSz cx="9144000" cy="5143500"/>
  <p:notesSz cx="5143500" cy="9144000"/>
  <p:embeddedFontLst>
    <p:embeddedFont>
      <p:font typeface="Alice" pitchFamily="34" charset="0"/>
      <p:regular r:id="rId19"/>
    </p:embeddedFont>
    <p:embeddedFont>
      <p:font typeface="Alice" pitchFamily="34" charset="-122"/>
      <p:regular r:id="rId20"/>
    </p:embeddedFont>
    <p:embeddedFont>
      <p:font typeface="Alice" pitchFamily="34" charset="-120"/>
      <p:regular r:id="rId21"/>
    </p:embeddedFont>
    <p:embeddedFont>
      <p:font typeface="Lora" pitchFamily="34" charset="0"/>
      <p:regular r:id="rId22"/>
    </p:embeddedFont>
    <p:embeddedFont>
      <p:font typeface="Lora" pitchFamily="34" charset="-122"/>
      <p:regular r:id="rId23"/>
    </p:embeddedFont>
    <p:embeddedFont>
      <p:font typeface="Lora" pitchFamily="34" charset="-120"/>
      <p:regular r:id="rId24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4" Type="http://schemas.openxmlformats.org/officeDocument/2006/relationships/font" Target="fonts/font6.fntdata"/><Relationship Id="rId23" Type="http://schemas.openxmlformats.org/officeDocument/2006/relationships/font" Target="fonts/font5.fntdata"/><Relationship Id="rId22" Type="http://schemas.openxmlformats.org/officeDocument/2006/relationships/font" Target="fonts/font4.fntdata"/><Relationship Id="rId21" Type="http://schemas.openxmlformats.org/officeDocument/2006/relationships/font" Target="fonts/font3.fntdata"/><Relationship Id="rId20" Type="http://schemas.openxmlformats.org/officeDocument/2006/relationships/font" Target="fonts/font2.fntdata"/><Relationship Id="rId2" Type="http://schemas.openxmlformats.org/officeDocument/2006/relationships/theme" Target="theme/theme1.xml"/><Relationship Id="rId19" Type="http://schemas.openxmlformats.org/officeDocument/2006/relationships/font" Target="fonts/font1.fntdata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1F2DE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CFBF8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.svg"/><Relationship Id="rId1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4.xml"/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jpeg"/><Relationship Id="rId3" Type="http://schemas.openxmlformats.org/officeDocument/2006/relationships/image" Target="../media/image8.jpeg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5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4.png"/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image" Target="../media/image22.png"/><Relationship Id="rId7" Type="http://schemas.openxmlformats.org/officeDocument/2006/relationships/image" Target="../media/image21.jpeg"/><Relationship Id="rId6" Type="http://schemas.openxmlformats.org/officeDocument/2006/relationships/image" Target="../media/image20.svg"/><Relationship Id="rId5" Type="http://schemas.openxmlformats.org/officeDocument/2006/relationships/image" Target="../media/image19.png"/><Relationship Id="rId4" Type="http://schemas.openxmlformats.org/officeDocument/2006/relationships/image" Target="../media/image18.svg"/><Relationship Id="rId3" Type="http://schemas.openxmlformats.org/officeDocument/2006/relationships/image" Target="../media/image17.png"/><Relationship Id="rId2" Type="http://schemas.openxmlformats.org/officeDocument/2006/relationships/image" Target="../media/image16.svg"/><Relationship Id="rId10" Type="http://schemas.openxmlformats.org/officeDocument/2006/relationships/notesSlide" Target="../notesSlides/notesSlide6.xml"/><Relationship Id="rId1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8.xml"/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28.jpeg"/><Relationship Id="rId5" Type="http://schemas.openxmlformats.org/officeDocument/2006/relationships/image" Target="../media/image27.jpeg"/><Relationship Id="rId4" Type="http://schemas.openxmlformats.org/officeDocument/2006/relationships/image" Target="../media/image26.jpeg"/><Relationship Id="rId3" Type="http://schemas.openxmlformats.org/officeDocument/2006/relationships/image" Target="../media/image25.jpeg"/><Relationship Id="rId2" Type="http://schemas.openxmlformats.org/officeDocument/2006/relationships/image" Target="../media/image24.jpeg"/><Relationship Id="rId1" Type="http://schemas.openxmlformats.org/officeDocument/2006/relationships/image" Target="../media/image23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0.png"/><Relationship Id="rId1" Type="http://schemas.openxmlformats.org/officeDocument/2006/relationships/image" Target="../media/image29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image" Target="../media/image39.jpeg"/><Relationship Id="rId8" Type="http://schemas.openxmlformats.org/officeDocument/2006/relationships/image" Target="../media/image38.png"/><Relationship Id="rId7" Type="http://schemas.openxmlformats.org/officeDocument/2006/relationships/image" Target="../media/image37.jpeg"/><Relationship Id="rId6" Type="http://schemas.openxmlformats.org/officeDocument/2006/relationships/image" Target="../media/image36.jpeg"/><Relationship Id="rId5" Type="http://schemas.openxmlformats.org/officeDocument/2006/relationships/image" Target="../media/image35.png"/><Relationship Id="rId4" Type="http://schemas.openxmlformats.org/officeDocument/2006/relationships/image" Target="../media/image34.png"/><Relationship Id="rId3" Type="http://schemas.openxmlformats.org/officeDocument/2006/relationships/image" Target="../media/image33.jpeg"/><Relationship Id="rId2" Type="http://schemas.openxmlformats.org/officeDocument/2006/relationships/image" Target="../media/image32.jpeg"/><Relationship Id="rId12" Type="http://schemas.openxmlformats.org/officeDocument/2006/relationships/notesSlide" Target="../notesSlides/notesSlide12.xml"/><Relationship Id="rId11" Type="http://schemas.openxmlformats.org/officeDocument/2006/relationships/slideLayout" Target="../slideLayouts/slideLayout2.xml"/><Relationship Id="rId10" Type="http://schemas.openxmlformats.org/officeDocument/2006/relationships/image" Target="../media/image40.jpeg"/><Relationship Id="rId1" Type="http://schemas.openxmlformats.org/officeDocument/2006/relationships/image" Target="../media/image3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29000" cy="5143500"/>
          </a:xfrm>
          <a:prstGeom prst="rect">
            <a:avLst/>
          </a:prstGeom>
          <a:solidFill>
            <a:srgbClr val="F0EDE6"/>
          </a:solidFill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085" y="364554"/>
            <a:ext cx="3310756" cy="441439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925119" y="371401"/>
            <a:ext cx="3891186" cy="36946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3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From Confusion to Clarity</a:t>
            </a:r>
            <a:endParaRPr lang="en-US" sz="2300" dirty="0"/>
          </a:p>
        </p:txBody>
      </p:sp>
      <p:sp>
        <p:nvSpPr>
          <p:cNvPr id="5" name="Text 2"/>
          <p:cNvSpPr/>
          <p:nvPr/>
        </p:nvSpPr>
        <p:spPr>
          <a:xfrm>
            <a:off x="3925119" y="785887"/>
            <a:ext cx="1935063" cy="18469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SMART CAMPUS</a:t>
            </a:r>
            <a:endParaRPr lang="en-US" sz="1150" dirty="0"/>
          </a:p>
        </p:txBody>
      </p:sp>
      <p:sp>
        <p:nvSpPr>
          <p:cNvPr id="6" name="Shape 3"/>
          <p:cNvSpPr/>
          <p:nvPr/>
        </p:nvSpPr>
        <p:spPr>
          <a:xfrm>
            <a:off x="3925119" y="1139577"/>
            <a:ext cx="4722763" cy="3632448"/>
          </a:xfrm>
          <a:prstGeom prst="roundRect">
            <a:avLst>
              <a:gd name="adj" fmla="val 488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3929881" y="1144339"/>
            <a:ext cx="4713238" cy="329357"/>
          </a:xfrm>
          <a:prstGeom prst="rect">
            <a:avLst/>
          </a:prstGeom>
          <a:solidFill>
            <a:srgbClr val="FFFFFF">
              <a:alpha val="4000"/>
            </a:srgbClr>
          </a:solidFill>
        </p:spPr>
      </p:sp>
      <p:sp>
        <p:nvSpPr>
          <p:cNvPr id="8" name="Text 5"/>
          <p:cNvSpPr/>
          <p:nvPr/>
        </p:nvSpPr>
        <p:spPr>
          <a:xfrm>
            <a:off x="4048051" y="1216670"/>
            <a:ext cx="2575099" cy="18469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9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Registration Number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6407051" y="1216670"/>
            <a:ext cx="2575099" cy="18469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9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Full Name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3929881" y="1473696"/>
            <a:ext cx="4713238" cy="329357"/>
          </a:xfrm>
          <a:prstGeom prst="rect">
            <a:avLst/>
          </a:prstGeom>
          <a:solidFill>
            <a:srgbClr val="000000">
              <a:alpha val="4000"/>
            </a:srgbClr>
          </a:solidFill>
        </p:spPr>
      </p:sp>
      <p:sp>
        <p:nvSpPr>
          <p:cNvPr id="11" name="Text 8"/>
          <p:cNvSpPr/>
          <p:nvPr/>
        </p:nvSpPr>
        <p:spPr>
          <a:xfrm>
            <a:off x="4048051" y="1546027"/>
            <a:ext cx="2575099" cy="18469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9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2025JULJPGG0010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6407051" y="1546027"/>
            <a:ext cx="2575099" cy="18469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9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 Pujita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3929881" y="1803053"/>
            <a:ext cx="4713238" cy="329357"/>
          </a:xfrm>
          <a:prstGeom prst="rect">
            <a:avLst/>
          </a:prstGeom>
          <a:solidFill>
            <a:srgbClr val="FFFFFF">
              <a:alpha val="4000"/>
            </a:srgbClr>
          </a:solidFill>
        </p:spPr>
      </p:sp>
      <p:sp>
        <p:nvSpPr>
          <p:cNvPr id="14" name="Text 11"/>
          <p:cNvSpPr/>
          <p:nvPr/>
        </p:nvSpPr>
        <p:spPr>
          <a:xfrm>
            <a:off x="4048051" y="1875383"/>
            <a:ext cx="2575099" cy="18469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9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2025JULJPGG0037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6407051" y="1875383"/>
            <a:ext cx="2575099" cy="18469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9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Jenifa X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3929881" y="2132409"/>
            <a:ext cx="4713238" cy="329357"/>
          </a:xfrm>
          <a:prstGeom prst="rect">
            <a:avLst/>
          </a:prstGeom>
          <a:solidFill>
            <a:srgbClr val="000000">
              <a:alpha val="4000"/>
            </a:srgbClr>
          </a:solidFill>
        </p:spPr>
      </p:sp>
      <p:sp>
        <p:nvSpPr>
          <p:cNvPr id="17" name="Text 14"/>
          <p:cNvSpPr/>
          <p:nvPr/>
        </p:nvSpPr>
        <p:spPr>
          <a:xfrm>
            <a:off x="4048051" y="2204740"/>
            <a:ext cx="2575099" cy="18469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9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2025JULJPGI4001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6407051" y="2204740"/>
            <a:ext cx="2575099" cy="18469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9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Karthik Ps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3929881" y="2461766"/>
            <a:ext cx="4713238" cy="329357"/>
          </a:xfrm>
          <a:prstGeom prst="rect">
            <a:avLst/>
          </a:prstGeom>
          <a:solidFill>
            <a:srgbClr val="FFFFFF">
              <a:alpha val="4000"/>
            </a:srgbClr>
          </a:solidFill>
        </p:spPr>
      </p:sp>
      <p:sp>
        <p:nvSpPr>
          <p:cNvPr id="20" name="Text 17"/>
          <p:cNvSpPr/>
          <p:nvPr/>
        </p:nvSpPr>
        <p:spPr>
          <a:xfrm>
            <a:off x="4048051" y="2534096"/>
            <a:ext cx="2575099" cy="18469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9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2025JULJPGF1022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6407051" y="2534096"/>
            <a:ext cx="2575099" cy="18469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9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Lekshmi S Nair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3929881" y="2791123"/>
            <a:ext cx="4713238" cy="329357"/>
          </a:xfrm>
          <a:prstGeom prst="rect">
            <a:avLst/>
          </a:prstGeom>
          <a:solidFill>
            <a:srgbClr val="000000">
              <a:alpha val="4000"/>
            </a:srgbClr>
          </a:solidFill>
        </p:spPr>
      </p:sp>
      <p:sp>
        <p:nvSpPr>
          <p:cNvPr id="23" name="Text 20"/>
          <p:cNvSpPr/>
          <p:nvPr/>
        </p:nvSpPr>
        <p:spPr>
          <a:xfrm>
            <a:off x="4048051" y="2863453"/>
            <a:ext cx="2575099" cy="18469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9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2025JULJPG0102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6407051" y="2863453"/>
            <a:ext cx="2575099" cy="18469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9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Nandu Prasad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3929881" y="3120479"/>
            <a:ext cx="4713238" cy="329357"/>
          </a:xfrm>
          <a:prstGeom prst="rect">
            <a:avLst/>
          </a:prstGeom>
          <a:solidFill>
            <a:srgbClr val="FFFFFF">
              <a:alpha val="4000"/>
            </a:srgbClr>
          </a:solidFill>
        </p:spPr>
      </p:sp>
      <p:sp>
        <p:nvSpPr>
          <p:cNvPr id="26" name="Text 23"/>
          <p:cNvSpPr/>
          <p:nvPr/>
        </p:nvSpPr>
        <p:spPr>
          <a:xfrm>
            <a:off x="4048051" y="3192810"/>
            <a:ext cx="2575099" cy="18469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9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2025JULJPGG0053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6407051" y="3192810"/>
            <a:ext cx="2575099" cy="18469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9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Nikita Sara M</a:t>
            </a:r>
            <a:endParaRPr lang="en-US" sz="900" dirty="0"/>
          </a:p>
        </p:txBody>
      </p:sp>
      <p:sp>
        <p:nvSpPr>
          <p:cNvPr id="28" name="Shape 25"/>
          <p:cNvSpPr/>
          <p:nvPr/>
        </p:nvSpPr>
        <p:spPr>
          <a:xfrm>
            <a:off x="3929881" y="3449836"/>
            <a:ext cx="4713238" cy="329357"/>
          </a:xfrm>
          <a:prstGeom prst="rect">
            <a:avLst/>
          </a:prstGeom>
          <a:solidFill>
            <a:srgbClr val="000000">
              <a:alpha val="4000"/>
            </a:srgbClr>
          </a:solidFill>
        </p:spPr>
      </p:sp>
      <p:sp>
        <p:nvSpPr>
          <p:cNvPr id="29" name="Text 26"/>
          <p:cNvSpPr/>
          <p:nvPr/>
        </p:nvSpPr>
        <p:spPr>
          <a:xfrm>
            <a:off x="4048051" y="3522166"/>
            <a:ext cx="2575099" cy="18469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9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2025JULJPGF1026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6407051" y="3522166"/>
            <a:ext cx="2575099" cy="18469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9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Rejoice George</a:t>
            </a:r>
            <a:endParaRPr lang="en-US" sz="900" dirty="0"/>
          </a:p>
        </p:txBody>
      </p:sp>
      <p:sp>
        <p:nvSpPr>
          <p:cNvPr id="31" name="Shape 28"/>
          <p:cNvSpPr/>
          <p:nvPr/>
        </p:nvSpPr>
        <p:spPr>
          <a:xfrm>
            <a:off x="3929881" y="3779193"/>
            <a:ext cx="4713238" cy="329357"/>
          </a:xfrm>
          <a:prstGeom prst="rect">
            <a:avLst/>
          </a:prstGeom>
          <a:solidFill>
            <a:srgbClr val="FFFFFF">
              <a:alpha val="4000"/>
            </a:srgbClr>
          </a:solidFill>
        </p:spPr>
      </p:sp>
      <p:sp>
        <p:nvSpPr>
          <p:cNvPr id="32" name="Text 29"/>
          <p:cNvSpPr/>
          <p:nvPr/>
        </p:nvSpPr>
        <p:spPr>
          <a:xfrm>
            <a:off x="4048051" y="3851523"/>
            <a:ext cx="2575099" cy="18469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9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2025JULJPGG0011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6407051" y="3851523"/>
            <a:ext cx="2575099" cy="18469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9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Shreya Sen</a:t>
            </a:r>
            <a:endParaRPr lang="en-US" sz="900" dirty="0"/>
          </a:p>
        </p:txBody>
      </p:sp>
      <p:sp>
        <p:nvSpPr>
          <p:cNvPr id="34" name="Shape 31"/>
          <p:cNvSpPr/>
          <p:nvPr/>
        </p:nvSpPr>
        <p:spPr>
          <a:xfrm>
            <a:off x="3929881" y="4108549"/>
            <a:ext cx="4713238" cy="329357"/>
          </a:xfrm>
          <a:prstGeom prst="rect">
            <a:avLst/>
          </a:prstGeom>
          <a:solidFill>
            <a:srgbClr val="000000">
              <a:alpha val="4000"/>
            </a:srgbClr>
          </a:solidFill>
        </p:spPr>
      </p:sp>
      <p:sp>
        <p:nvSpPr>
          <p:cNvPr id="35" name="Text 32"/>
          <p:cNvSpPr/>
          <p:nvPr/>
        </p:nvSpPr>
        <p:spPr>
          <a:xfrm>
            <a:off x="4048051" y="4180880"/>
            <a:ext cx="2575099" cy="18469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9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2025JULJPGA3007</a:t>
            </a:r>
            <a:endParaRPr lang="en-US" sz="900" dirty="0"/>
          </a:p>
        </p:txBody>
      </p:sp>
      <p:sp>
        <p:nvSpPr>
          <p:cNvPr id="36" name="Text 33"/>
          <p:cNvSpPr/>
          <p:nvPr/>
        </p:nvSpPr>
        <p:spPr>
          <a:xfrm>
            <a:off x="6407051" y="4180880"/>
            <a:ext cx="2575099" cy="18469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9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Sri Durga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3929881" y="4437906"/>
            <a:ext cx="4713238" cy="329357"/>
          </a:xfrm>
          <a:prstGeom prst="rect">
            <a:avLst/>
          </a:prstGeom>
          <a:solidFill>
            <a:srgbClr val="FFFFFF">
              <a:alpha val="4000"/>
            </a:srgbClr>
          </a:solidFill>
        </p:spPr>
      </p:sp>
      <p:sp>
        <p:nvSpPr>
          <p:cNvPr id="38" name="Text 35"/>
          <p:cNvSpPr/>
          <p:nvPr/>
        </p:nvSpPr>
        <p:spPr>
          <a:xfrm>
            <a:off x="4048051" y="4510236"/>
            <a:ext cx="2575099" cy="18469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9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2025JULJPGF1005</a:t>
            </a:r>
            <a:endParaRPr lang="en-US" sz="900" dirty="0"/>
          </a:p>
        </p:txBody>
      </p:sp>
      <p:sp>
        <p:nvSpPr>
          <p:cNvPr id="39" name="Text 36"/>
          <p:cNvSpPr/>
          <p:nvPr/>
        </p:nvSpPr>
        <p:spPr>
          <a:xfrm>
            <a:off x="6407051" y="4510236"/>
            <a:ext cx="2575099" cy="18469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9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Yuvetha M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715000" y="0"/>
            <a:ext cx="3429000" cy="5143500"/>
          </a:xfrm>
          <a:prstGeom prst="rect">
            <a:avLst/>
          </a:prstGeom>
          <a:solidFill>
            <a:srgbClr val="F0EDE6"/>
          </a:solidFill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0541" y="346472"/>
            <a:ext cx="3337917" cy="445055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96119" y="387028"/>
            <a:ext cx="4706243" cy="28463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The Problem: 40+ Minutes Lost Every Day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496119" y="771971"/>
            <a:ext cx="4722763" cy="50542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7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Every day, thousands of students on large Indian university campuses lose over 40 minutes to a problem entirely unrelated to academics — the sheer chaos of </a:t>
            </a:r>
            <a:r>
              <a:rPr lang="en-US" sz="700" b="1" dirty="0">
                <a:solidFill>
                  <a:srgbClr val="2C2821"/>
                </a:solidFill>
                <a:latin typeface="Lora Bold" pitchFamily="34" charset="0"/>
                <a:ea typeface="Lora Bold" pitchFamily="34" charset="-122"/>
                <a:cs typeface="Lora Bold" pitchFamily="34" charset="-120"/>
              </a:rPr>
              <a:t>fragmented information</a:t>
            </a:r>
            <a:r>
              <a:rPr lang="en-US" sz="7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. No maps. No faculty availability. No single source of truth. Updates scattered across ERP, WhatsApp, e-mail, and notice boards. The result: anxiety, wasted time, and missed academic moments.</a:t>
            </a:r>
            <a:endParaRPr lang="en-US" sz="700" dirty="0"/>
          </a:p>
        </p:txBody>
      </p:sp>
      <p:sp>
        <p:nvSpPr>
          <p:cNvPr id="6" name="Text 3"/>
          <p:cNvSpPr/>
          <p:nvPr/>
        </p:nvSpPr>
        <p:spPr>
          <a:xfrm>
            <a:off x="496119" y="1398166"/>
            <a:ext cx="4722763" cy="30063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23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40+</a:t>
            </a:r>
            <a:endParaRPr lang="en-US" sz="2350" dirty="0"/>
          </a:p>
        </p:txBody>
      </p:sp>
      <p:sp>
        <p:nvSpPr>
          <p:cNvPr id="7" name="Text 4"/>
          <p:cNvSpPr/>
          <p:nvPr/>
        </p:nvSpPr>
        <p:spPr>
          <a:xfrm>
            <a:off x="2288158" y="1794495"/>
            <a:ext cx="1138684" cy="14228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8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Minutes wasted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496119" y="1976884"/>
            <a:ext cx="4722763" cy="12635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6000"/>
              </a:lnSpc>
              <a:buNone/>
            </a:pPr>
            <a:r>
              <a:rPr lang="en-US" sz="7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Per cabin visit, navigating blind</a:t>
            </a:r>
            <a:endParaRPr lang="en-US" sz="700" dirty="0"/>
          </a:p>
        </p:txBody>
      </p:sp>
      <p:sp>
        <p:nvSpPr>
          <p:cNvPr id="9" name="Text 6"/>
          <p:cNvSpPr/>
          <p:nvPr/>
        </p:nvSpPr>
        <p:spPr>
          <a:xfrm>
            <a:off x="496119" y="2282577"/>
            <a:ext cx="4722763" cy="30063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23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5+</a:t>
            </a:r>
            <a:endParaRPr lang="en-US" sz="2350" dirty="0"/>
          </a:p>
        </p:txBody>
      </p:sp>
      <p:sp>
        <p:nvSpPr>
          <p:cNvPr id="10" name="Text 7"/>
          <p:cNvSpPr/>
          <p:nvPr/>
        </p:nvSpPr>
        <p:spPr>
          <a:xfrm>
            <a:off x="2288158" y="2678906"/>
            <a:ext cx="1138684" cy="14228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8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Platforms daily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496119" y="2861295"/>
            <a:ext cx="4722763" cy="12635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6000"/>
              </a:lnSpc>
              <a:buNone/>
            </a:pPr>
            <a:r>
              <a:rPr lang="en-US" sz="7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ERP, LMS, email, WhatsApp, boards</a:t>
            </a:r>
            <a:endParaRPr lang="en-US" sz="700" dirty="0"/>
          </a:p>
        </p:txBody>
      </p:sp>
      <p:sp>
        <p:nvSpPr>
          <p:cNvPr id="12" name="Text 9"/>
          <p:cNvSpPr/>
          <p:nvPr/>
        </p:nvSpPr>
        <p:spPr>
          <a:xfrm>
            <a:off x="496119" y="3166988"/>
            <a:ext cx="4722763" cy="30063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23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3–5</a:t>
            </a:r>
            <a:endParaRPr lang="en-US" sz="2350" dirty="0"/>
          </a:p>
        </p:txBody>
      </p:sp>
      <p:sp>
        <p:nvSpPr>
          <p:cNvPr id="13" name="Text 10"/>
          <p:cNvSpPr/>
          <p:nvPr/>
        </p:nvSpPr>
        <p:spPr>
          <a:xfrm>
            <a:off x="2288158" y="3563317"/>
            <a:ext cx="1138684" cy="14228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8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Missed updates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496119" y="3745706"/>
            <a:ext cx="4722763" cy="12635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6000"/>
              </a:lnSpc>
              <a:buNone/>
            </a:pPr>
            <a:r>
              <a:rPr lang="en-US" sz="7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Per student, every single month</a:t>
            </a:r>
            <a:endParaRPr lang="en-US" sz="700" dirty="0"/>
          </a:p>
        </p:txBody>
      </p:sp>
      <p:sp>
        <p:nvSpPr>
          <p:cNvPr id="15" name="Text 12"/>
          <p:cNvSpPr/>
          <p:nvPr/>
        </p:nvSpPr>
        <p:spPr>
          <a:xfrm>
            <a:off x="496119" y="4051399"/>
            <a:ext cx="4722763" cy="30063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23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2.8</a:t>
            </a:r>
            <a:endParaRPr lang="en-US" sz="2350" dirty="0"/>
          </a:p>
        </p:txBody>
      </p:sp>
      <p:sp>
        <p:nvSpPr>
          <p:cNvPr id="16" name="Text 13"/>
          <p:cNvSpPr/>
          <p:nvPr/>
        </p:nvSpPr>
        <p:spPr>
          <a:xfrm>
            <a:off x="2288158" y="4447729"/>
            <a:ext cx="1138684" cy="14228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8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Satisfaction score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496119" y="4630117"/>
            <a:ext cx="4722763" cy="12635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6000"/>
              </a:lnSpc>
              <a:buNone/>
            </a:pPr>
            <a:r>
              <a:rPr lang="en-US" sz="7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Out of 5.0 before intervention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69106"/>
            <a:ext cx="4439394" cy="32705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Understanding the Problem Space</a:t>
            </a:r>
            <a:endParaRPr lang="en-US" sz="2050" dirty="0"/>
          </a:p>
        </p:txBody>
      </p:sp>
      <p:sp>
        <p:nvSpPr>
          <p:cNvPr id="3" name="Text 1"/>
          <p:cNvSpPr/>
          <p:nvPr/>
        </p:nvSpPr>
        <p:spPr>
          <a:xfrm>
            <a:off x="496119" y="972741"/>
            <a:ext cx="8608963" cy="15440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8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Before designing any solution, the team mapped the problem rigorously using a 5W + H breakdown — grounding every assumption in real campus context across India.</a:t>
            </a:r>
            <a:endParaRPr lang="en-US" sz="8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6119" y="1226493"/>
            <a:ext cx="4031754" cy="76311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72182" y="1345406"/>
            <a:ext cx="1308274" cy="16348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Where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672182" y="1561877"/>
            <a:ext cx="3736777" cy="30881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8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Large multi-block university campuses across India — sprawling, confusing, and under-signposted.</a:t>
            </a:r>
            <a:endParaRPr lang="en-US" sz="8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616128" y="1226493"/>
            <a:ext cx="4031754" cy="76311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792191" y="1345406"/>
            <a:ext cx="1308274" cy="16348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What</a:t>
            </a:r>
            <a:endParaRPr lang="en-US" sz="1000" dirty="0"/>
          </a:p>
        </p:txBody>
      </p:sp>
      <p:sp>
        <p:nvSpPr>
          <p:cNvPr id="9" name="Text 5"/>
          <p:cNvSpPr/>
          <p:nvPr/>
        </p:nvSpPr>
        <p:spPr>
          <a:xfrm>
            <a:off x="4792191" y="1561877"/>
            <a:ext cx="3736777" cy="30881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8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Fragmented information systems — ERP, LMS, e-mail, WhatsApp, and physical notice boards operating in silos.</a:t>
            </a:r>
            <a:endParaRPr lang="en-US" sz="8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6119" y="2077864"/>
            <a:ext cx="4031754" cy="763116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72182" y="2196778"/>
            <a:ext cx="1308274" cy="16348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When</a:t>
            </a:r>
            <a:endParaRPr lang="en-US" sz="1000" dirty="0"/>
          </a:p>
        </p:txBody>
      </p:sp>
      <p:sp>
        <p:nvSpPr>
          <p:cNvPr id="12" name="Text 7"/>
          <p:cNvSpPr/>
          <p:nvPr/>
        </p:nvSpPr>
        <p:spPr>
          <a:xfrm>
            <a:off x="672182" y="2413248"/>
            <a:ext cx="3736777" cy="30881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8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Peak friction moments: before class, during break, and in the stressful days leading up to exams.</a:t>
            </a:r>
            <a:endParaRPr lang="en-US" sz="8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616128" y="2077864"/>
            <a:ext cx="4031754" cy="763116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792191" y="2196778"/>
            <a:ext cx="1308274" cy="16348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Who</a:t>
            </a:r>
            <a:endParaRPr lang="en-US" sz="1000" dirty="0"/>
          </a:p>
        </p:txBody>
      </p:sp>
      <p:sp>
        <p:nvSpPr>
          <p:cNvPr id="15" name="Text 9"/>
          <p:cNvSpPr/>
          <p:nvPr/>
        </p:nvSpPr>
        <p:spPr>
          <a:xfrm>
            <a:off x="4792191" y="2413248"/>
            <a:ext cx="3736777" cy="30881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8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UG and PG students — freshers to final-year, hostellers and day scholars alike, across departments and states.</a:t>
            </a:r>
            <a:endParaRPr lang="en-US" sz="80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6119" y="2929235"/>
            <a:ext cx="4031754" cy="763116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672182" y="3048149"/>
            <a:ext cx="1308274" cy="16348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How</a:t>
            </a:r>
            <a:endParaRPr lang="en-US" sz="1000" dirty="0"/>
          </a:p>
        </p:txBody>
      </p:sp>
      <p:sp>
        <p:nvSpPr>
          <p:cNvPr id="18" name="Text 11"/>
          <p:cNvSpPr/>
          <p:nvPr/>
        </p:nvSpPr>
        <p:spPr>
          <a:xfrm>
            <a:off x="672182" y="3264619"/>
            <a:ext cx="3736777" cy="30881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8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Blindly walking to faculty cabins, physically checking boards, and relying on second-hand WhatsApp rumours.</a:t>
            </a:r>
            <a:endParaRPr lang="en-US" sz="800" dirty="0"/>
          </a:p>
        </p:txBody>
      </p:sp>
      <p:pic>
        <p:nvPicPr>
          <p:cNvPr id="19" name="Image 5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616128" y="2929235"/>
            <a:ext cx="4031754" cy="763116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4792191" y="3048149"/>
            <a:ext cx="1308274" cy="16348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How Often</a:t>
            </a:r>
            <a:endParaRPr lang="en-US" sz="1000" dirty="0"/>
          </a:p>
        </p:txBody>
      </p:sp>
      <p:sp>
        <p:nvSpPr>
          <p:cNvPr id="21" name="Text 13"/>
          <p:cNvSpPr/>
          <p:nvPr/>
        </p:nvSpPr>
        <p:spPr>
          <a:xfrm>
            <a:off x="4792191" y="3264619"/>
            <a:ext cx="3736777" cy="30881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8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Daily — thousands of students, multiple information-tracking rounds per day, every working day.</a:t>
            </a:r>
            <a:endParaRPr lang="en-US" sz="800" dirty="0"/>
          </a:p>
        </p:txBody>
      </p:sp>
      <p:sp>
        <p:nvSpPr>
          <p:cNvPr id="22" name="Shape 14"/>
          <p:cNvSpPr/>
          <p:nvPr/>
        </p:nvSpPr>
        <p:spPr>
          <a:xfrm>
            <a:off x="420812" y="3791694"/>
            <a:ext cx="4098875" cy="882700"/>
          </a:xfrm>
          <a:prstGeom prst="roundRect">
            <a:avLst>
              <a:gd name="adj" fmla="val 1779"/>
            </a:avLst>
          </a:prstGeom>
          <a:solidFill>
            <a:srgbClr val="1B5F39"/>
          </a:solidFill>
        </p:spPr>
      </p:sp>
      <p:sp>
        <p:nvSpPr>
          <p:cNvPr id="23" name="Text 15"/>
          <p:cNvSpPr/>
          <p:nvPr/>
        </p:nvSpPr>
        <p:spPr>
          <a:xfrm>
            <a:off x="525438" y="3879949"/>
            <a:ext cx="1976065" cy="16348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Initial Problem Statement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25438" y="4131692"/>
            <a:ext cx="3889623" cy="46322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"The institute utilises multiple disconnected digital systems leading to excessive admin overload, repeated student queries, and inefficient faculty time utilisation."</a:t>
            </a:r>
            <a:endParaRPr lang="en-US" sz="800" dirty="0"/>
          </a:p>
        </p:txBody>
      </p:sp>
      <p:sp>
        <p:nvSpPr>
          <p:cNvPr id="25" name="Text 17"/>
          <p:cNvSpPr/>
          <p:nvPr/>
        </p:nvSpPr>
        <p:spPr>
          <a:xfrm>
            <a:off x="4704383" y="3879949"/>
            <a:ext cx="2157487" cy="16348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Reframed — Human-Centred</a:t>
            </a:r>
            <a:endParaRPr lang="en-US" sz="1000" dirty="0"/>
          </a:p>
        </p:txBody>
      </p:sp>
      <p:sp>
        <p:nvSpPr>
          <p:cNvPr id="26" name="Text 18"/>
          <p:cNvSpPr/>
          <p:nvPr/>
        </p:nvSpPr>
        <p:spPr>
          <a:xfrm>
            <a:off x="4704383" y="4131692"/>
            <a:ext cx="3948261" cy="46322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800" b="1" dirty="0">
                <a:solidFill>
                  <a:srgbClr val="2C2821"/>
                </a:solidFill>
                <a:latin typeface="Lora Bold" pitchFamily="34" charset="0"/>
                <a:ea typeface="Lora Bold" pitchFamily="34" charset="-122"/>
                <a:cs typeface="Lora Bold" pitchFamily="34" charset="-120"/>
              </a:rPr>
              <a:t>"How might we reduce uncertainty and mental load for students during everyday academic tasks?"</a:t>
            </a:r>
            <a:r>
              <a:rPr lang="en-US" sz="8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This shift from system-efficiency to human-experience was the critical turning point.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62620"/>
            <a:ext cx="2739479" cy="24229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Empathy &amp; User Research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496119" y="701799"/>
            <a:ext cx="8608963" cy="10075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6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The team conducted </a:t>
            </a:r>
            <a:r>
              <a:rPr lang="en-US" sz="600" b="1" dirty="0">
                <a:solidFill>
                  <a:srgbClr val="2C2821"/>
                </a:solidFill>
                <a:latin typeface="Lora Bold" pitchFamily="34" charset="0"/>
                <a:ea typeface="Lora Bold" pitchFamily="34" charset="-122"/>
                <a:cs typeface="Lora Bold" pitchFamily="34" charset="-120"/>
              </a:rPr>
              <a:t>5 in-depth interviews</a:t>
            </a:r>
            <a:r>
              <a:rPr lang="en-US" sz="6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and </a:t>
            </a:r>
            <a:r>
              <a:rPr lang="en-US" sz="600" b="1" dirty="0">
                <a:solidFill>
                  <a:srgbClr val="2C2821"/>
                </a:solidFill>
                <a:latin typeface="Lora Bold" pitchFamily="34" charset="0"/>
                <a:ea typeface="Lora Bold" pitchFamily="34" charset="-122"/>
                <a:cs typeface="Lora Bold" pitchFamily="34" charset="-120"/>
              </a:rPr>
              <a:t>11 surveys</a:t>
            </a:r>
            <a:r>
              <a:rPr lang="en-US" sz="6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spanning UG and PG students from Year 1 to final year, across multiple states and departments. Three verbatims cut through all the data and defined the direction.</a:t>
            </a:r>
            <a:endParaRPr lang="en-US" sz="600" dirty="0"/>
          </a:p>
        </p:txBody>
      </p:sp>
      <p:sp>
        <p:nvSpPr>
          <p:cNvPr id="4" name="Shape 2"/>
          <p:cNvSpPr/>
          <p:nvPr/>
        </p:nvSpPr>
        <p:spPr>
          <a:xfrm>
            <a:off x="496119" y="857027"/>
            <a:ext cx="2684934" cy="603126"/>
          </a:xfrm>
          <a:prstGeom prst="roundRect">
            <a:avLst>
              <a:gd name="adj" fmla="val 1928"/>
            </a:avLst>
          </a:prstGeom>
          <a:solidFill>
            <a:srgbClr val="FCFBF8"/>
          </a:solidFill>
          <a:ln w="9525">
            <a:solidFill>
              <a:srgbClr val="D6D3CC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9135" y="820043"/>
            <a:ext cx="93018" cy="93018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5019" y="1404119"/>
            <a:ext cx="93018" cy="9301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21878" y="982787"/>
            <a:ext cx="2433414" cy="201513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6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"I waited outside a faculty cabin for almost 40 minutes and later found out they were in a meeting."</a:t>
            </a:r>
            <a:endParaRPr lang="en-US" sz="600" dirty="0"/>
          </a:p>
        </p:txBody>
      </p:sp>
      <p:sp>
        <p:nvSpPr>
          <p:cNvPr id="8" name="Text 4"/>
          <p:cNvSpPr/>
          <p:nvPr/>
        </p:nvSpPr>
        <p:spPr>
          <a:xfrm>
            <a:off x="621878" y="1213321"/>
            <a:ext cx="982935" cy="12107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7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— 3rd Year UG Student</a:t>
            </a:r>
            <a:endParaRPr lang="en-US" sz="750" dirty="0"/>
          </a:p>
        </p:txBody>
      </p:sp>
      <p:sp>
        <p:nvSpPr>
          <p:cNvPr id="9" name="Shape 5"/>
          <p:cNvSpPr/>
          <p:nvPr/>
        </p:nvSpPr>
        <p:spPr>
          <a:xfrm>
            <a:off x="3229496" y="857027"/>
            <a:ext cx="2684934" cy="603126"/>
          </a:xfrm>
          <a:prstGeom prst="roundRect">
            <a:avLst>
              <a:gd name="adj" fmla="val 1928"/>
            </a:avLst>
          </a:prstGeom>
          <a:solidFill>
            <a:srgbClr val="FCFBF8"/>
          </a:solidFill>
          <a:ln w="9525">
            <a:solidFill>
              <a:srgbClr val="D6D3CC"/>
            </a:solidFill>
            <a:prstDash val="solid"/>
          </a:ln>
        </p:spPr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92512" y="820043"/>
            <a:ext cx="93018" cy="93018"/>
          </a:xfrm>
          <a:prstGeom prst="rect">
            <a:avLst/>
          </a:prstGeom>
        </p:spPr>
      </p:pic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8396" y="1404119"/>
            <a:ext cx="93018" cy="93018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3355256" y="982787"/>
            <a:ext cx="2433414" cy="201513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6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"Information was always scattered. I had to depend on WhatsApp groups instead of one proper system."</a:t>
            </a:r>
            <a:endParaRPr lang="en-US" sz="600" dirty="0"/>
          </a:p>
        </p:txBody>
      </p:sp>
      <p:sp>
        <p:nvSpPr>
          <p:cNvPr id="13" name="Text 7"/>
          <p:cNvSpPr/>
          <p:nvPr/>
        </p:nvSpPr>
        <p:spPr>
          <a:xfrm>
            <a:off x="3355256" y="1213321"/>
            <a:ext cx="969094" cy="12107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7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— 1st Year PG Student</a:t>
            </a:r>
            <a:endParaRPr lang="en-US" sz="750" dirty="0"/>
          </a:p>
        </p:txBody>
      </p:sp>
      <p:sp>
        <p:nvSpPr>
          <p:cNvPr id="14" name="Shape 8"/>
          <p:cNvSpPr/>
          <p:nvPr/>
        </p:nvSpPr>
        <p:spPr>
          <a:xfrm>
            <a:off x="5962873" y="857027"/>
            <a:ext cx="2685008" cy="603126"/>
          </a:xfrm>
          <a:prstGeom prst="roundRect">
            <a:avLst>
              <a:gd name="adj" fmla="val 1928"/>
            </a:avLst>
          </a:prstGeom>
          <a:solidFill>
            <a:srgbClr val="FCFBF8"/>
          </a:solidFill>
          <a:ln w="9525">
            <a:solidFill>
              <a:srgbClr val="D6D3CC"/>
            </a:solidFill>
            <a:prstDash val="solid"/>
          </a:ln>
        </p:spPr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25889" y="820043"/>
            <a:ext cx="93018" cy="93018"/>
          </a:xfrm>
          <a:prstGeom prst="rect">
            <a:avLst/>
          </a:prstGeom>
        </p:spPr>
      </p:pic>
      <p:pic>
        <p:nvPicPr>
          <p:cNvPr id="16" name="Image 5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1848" y="1404119"/>
            <a:ext cx="93018" cy="93018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6088633" y="982787"/>
            <a:ext cx="2433489" cy="201513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6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"Finding locations is the biggest problem. The campus is huge and there are no proper maps."</a:t>
            </a:r>
            <a:endParaRPr lang="en-US" sz="600" dirty="0"/>
          </a:p>
        </p:txBody>
      </p:sp>
      <p:sp>
        <p:nvSpPr>
          <p:cNvPr id="18" name="Text 10"/>
          <p:cNvSpPr/>
          <p:nvPr/>
        </p:nvSpPr>
        <p:spPr>
          <a:xfrm>
            <a:off x="6088633" y="1213321"/>
            <a:ext cx="969094" cy="12107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7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— 1st Year UG Student</a:t>
            </a:r>
            <a:endParaRPr lang="en-US" sz="750" dirty="0"/>
          </a:p>
        </p:txBody>
      </p:sp>
      <p:pic>
        <p:nvPicPr>
          <p:cNvPr id="19" name="Image 6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1569095"/>
            <a:ext cx="1979414" cy="1487537"/>
          </a:xfrm>
          <a:prstGeom prst="rect">
            <a:avLst/>
          </a:prstGeom>
        </p:spPr>
      </p:pic>
      <p:pic>
        <p:nvPicPr>
          <p:cNvPr id="20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87738" y="1569095"/>
            <a:ext cx="1171501" cy="879500"/>
          </a:xfrm>
          <a:prstGeom prst="rect">
            <a:avLst/>
          </a:prstGeom>
        </p:spPr>
      </p:pic>
      <p:pic>
        <p:nvPicPr>
          <p:cNvPr id="21" name="Image 8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71443" y="1569095"/>
            <a:ext cx="1496392" cy="843855"/>
          </a:xfrm>
          <a:prstGeom prst="rect">
            <a:avLst/>
          </a:prstGeom>
        </p:spPr>
      </p:pic>
      <p:sp>
        <p:nvSpPr>
          <p:cNvPr id="22" name="Text 11"/>
          <p:cNvSpPr/>
          <p:nvPr/>
        </p:nvSpPr>
        <p:spPr>
          <a:xfrm>
            <a:off x="496119" y="3183731"/>
            <a:ext cx="3678510" cy="19384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Empathy Map — Harshini (Composite Student)</a:t>
            </a:r>
            <a:endParaRPr lang="en-US" sz="1200" dirty="0"/>
          </a:p>
        </p:txBody>
      </p:sp>
      <p:sp>
        <p:nvSpPr>
          <p:cNvPr id="23" name="Shape 12"/>
          <p:cNvSpPr/>
          <p:nvPr/>
        </p:nvSpPr>
        <p:spPr>
          <a:xfrm>
            <a:off x="496119" y="3450208"/>
            <a:ext cx="4051622" cy="641077"/>
          </a:xfrm>
          <a:prstGeom prst="roundRect">
            <a:avLst>
              <a:gd name="adj" fmla="val 1814"/>
            </a:avLst>
          </a:prstGeom>
          <a:solidFill>
            <a:srgbClr val="F0EDE6"/>
          </a:solidFill>
        </p:spPr>
      </p:sp>
      <p:sp>
        <p:nvSpPr>
          <p:cNvPr id="24" name="Text 13"/>
          <p:cNvSpPr/>
          <p:nvPr/>
        </p:nvSpPr>
        <p:spPr>
          <a:xfrm>
            <a:off x="573584" y="3527673"/>
            <a:ext cx="969094" cy="12107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7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Says</a:t>
            </a:r>
            <a:endParaRPr lang="en-US" sz="750" dirty="0"/>
          </a:p>
        </p:txBody>
      </p:sp>
      <p:sp>
        <p:nvSpPr>
          <p:cNvPr id="25" name="Text 14"/>
          <p:cNvSpPr/>
          <p:nvPr/>
        </p:nvSpPr>
        <p:spPr>
          <a:xfrm>
            <a:off x="573584" y="3677766"/>
            <a:ext cx="3896692" cy="33605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121920" indent="-121920" algn="l">
              <a:lnSpc>
                <a:spcPct val="108000"/>
              </a:lnSpc>
              <a:buSzPct val="100000"/>
              <a:buChar char="•"/>
            </a:pPr>
            <a:r>
              <a:rPr lang="en-US" sz="6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I just ask my friend where the class is</a:t>
            </a:r>
            <a:endParaRPr lang="en-US" sz="600" dirty="0"/>
          </a:p>
          <a:p>
            <a:pPr marL="121920" indent="-121920" algn="l">
              <a:lnSpc>
                <a:spcPct val="108000"/>
              </a:lnSpc>
              <a:buSzPct val="100000"/>
              <a:buChar char="•"/>
            </a:pPr>
            <a:r>
              <a:rPr lang="en-US" sz="6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WhatsApp groups are the only real update</a:t>
            </a:r>
            <a:endParaRPr lang="en-US" sz="600" dirty="0"/>
          </a:p>
          <a:p>
            <a:pPr marL="121920" indent="-121920" algn="l">
              <a:lnSpc>
                <a:spcPct val="108000"/>
              </a:lnSpc>
              <a:buSzPct val="100000"/>
              <a:buChar char="•"/>
            </a:pPr>
            <a:r>
              <a:rPr lang="en-US" sz="6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I had no idea the room had changed</a:t>
            </a:r>
            <a:endParaRPr lang="en-US" sz="600" dirty="0"/>
          </a:p>
        </p:txBody>
      </p:sp>
      <p:sp>
        <p:nvSpPr>
          <p:cNvPr id="26" name="Shape 15"/>
          <p:cNvSpPr/>
          <p:nvPr/>
        </p:nvSpPr>
        <p:spPr>
          <a:xfrm>
            <a:off x="4596185" y="3450208"/>
            <a:ext cx="4051697" cy="641077"/>
          </a:xfrm>
          <a:prstGeom prst="roundRect">
            <a:avLst>
              <a:gd name="adj" fmla="val 1814"/>
            </a:avLst>
          </a:prstGeom>
          <a:solidFill>
            <a:srgbClr val="F0EDE6"/>
          </a:solidFill>
        </p:spPr>
      </p:sp>
      <p:sp>
        <p:nvSpPr>
          <p:cNvPr id="27" name="Text 16"/>
          <p:cNvSpPr/>
          <p:nvPr/>
        </p:nvSpPr>
        <p:spPr>
          <a:xfrm>
            <a:off x="4673650" y="3527673"/>
            <a:ext cx="969094" cy="12107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7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Thinks</a:t>
            </a:r>
            <a:endParaRPr lang="en-US" sz="750" dirty="0"/>
          </a:p>
        </p:txBody>
      </p:sp>
      <p:sp>
        <p:nvSpPr>
          <p:cNvPr id="28" name="Text 17"/>
          <p:cNvSpPr/>
          <p:nvPr/>
        </p:nvSpPr>
        <p:spPr>
          <a:xfrm>
            <a:off x="4673650" y="3677766"/>
            <a:ext cx="3896767" cy="33605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121920" indent="-121920" algn="l">
              <a:lnSpc>
                <a:spcPct val="108000"/>
              </a:lnSpc>
              <a:buSzPct val="100000"/>
              <a:buChar char="•"/>
            </a:pPr>
            <a:r>
              <a:rPr lang="en-US" sz="6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Why isn't this on one app?</a:t>
            </a:r>
            <a:endParaRPr lang="en-US" sz="600" dirty="0"/>
          </a:p>
          <a:p>
            <a:pPr marL="121920" indent="-121920" algn="l">
              <a:lnSpc>
                <a:spcPct val="108000"/>
              </a:lnSpc>
              <a:buSzPct val="100000"/>
              <a:buChar char="•"/>
            </a:pPr>
            <a:r>
              <a:rPr lang="en-US" sz="6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What if the professor isn't available again?</a:t>
            </a:r>
            <a:endParaRPr lang="en-US" sz="600" dirty="0"/>
          </a:p>
          <a:p>
            <a:pPr marL="121920" indent="-121920" algn="l">
              <a:lnSpc>
                <a:spcPct val="108000"/>
              </a:lnSpc>
              <a:buSzPct val="100000"/>
              <a:buChar char="•"/>
            </a:pPr>
            <a:r>
              <a:rPr lang="en-US" sz="6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I hope I'm in the right block</a:t>
            </a:r>
            <a:endParaRPr lang="en-US" sz="600" dirty="0"/>
          </a:p>
        </p:txBody>
      </p:sp>
      <p:sp>
        <p:nvSpPr>
          <p:cNvPr id="29" name="Shape 18"/>
          <p:cNvSpPr/>
          <p:nvPr/>
        </p:nvSpPr>
        <p:spPr>
          <a:xfrm>
            <a:off x="496119" y="4139729"/>
            <a:ext cx="4051622" cy="641077"/>
          </a:xfrm>
          <a:prstGeom prst="roundRect">
            <a:avLst>
              <a:gd name="adj" fmla="val 1814"/>
            </a:avLst>
          </a:prstGeom>
          <a:solidFill>
            <a:srgbClr val="F0EDE6"/>
          </a:solidFill>
        </p:spPr>
      </p:sp>
      <p:sp>
        <p:nvSpPr>
          <p:cNvPr id="30" name="Text 19"/>
          <p:cNvSpPr/>
          <p:nvPr/>
        </p:nvSpPr>
        <p:spPr>
          <a:xfrm>
            <a:off x="573584" y="4217194"/>
            <a:ext cx="969094" cy="12107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7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Does</a:t>
            </a:r>
            <a:endParaRPr lang="en-US" sz="750" dirty="0"/>
          </a:p>
        </p:txBody>
      </p:sp>
      <p:sp>
        <p:nvSpPr>
          <p:cNvPr id="31" name="Text 20"/>
          <p:cNvSpPr/>
          <p:nvPr/>
        </p:nvSpPr>
        <p:spPr>
          <a:xfrm>
            <a:off x="573584" y="4367287"/>
            <a:ext cx="3896692" cy="33605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121920" indent="-121920" algn="l">
              <a:lnSpc>
                <a:spcPct val="108000"/>
              </a:lnSpc>
              <a:buSzPct val="100000"/>
              <a:buChar char="•"/>
            </a:pPr>
            <a:r>
              <a:rPr lang="en-US" sz="6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Checks 3 platforms every morning</a:t>
            </a:r>
            <a:endParaRPr lang="en-US" sz="600" dirty="0"/>
          </a:p>
          <a:p>
            <a:pPr marL="121920" indent="-121920" algn="l">
              <a:lnSpc>
                <a:spcPct val="108000"/>
              </a:lnSpc>
              <a:buSzPct val="100000"/>
              <a:buChar char="•"/>
            </a:pPr>
            <a:r>
              <a:rPr lang="en-US" sz="6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Walks to cabin and waits without confirmation</a:t>
            </a:r>
            <a:endParaRPr lang="en-US" sz="600" dirty="0"/>
          </a:p>
          <a:p>
            <a:pPr marL="121920" indent="-121920" algn="l">
              <a:lnSpc>
                <a:spcPct val="108000"/>
              </a:lnSpc>
              <a:buSzPct val="100000"/>
              <a:buChar char="•"/>
            </a:pPr>
            <a:r>
              <a:rPr lang="en-US" sz="6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Uses landmarks — lift, canteen — to navigate</a:t>
            </a:r>
            <a:endParaRPr lang="en-US" sz="600" dirty="0"/>
          </a:p>
        </p:txBody>
      </p:sp>
      <p:sp>
        <p:nvSpPr>
          <p:cNvPr id="32" name="Shape 21"/>
          <p:cNvSpPr/>
          <p:nvPr/>
        </p:nvSpPr>
        <p:spPr>
          <a:xfrm>
            <a:off x="4596185" y="4139729"/>
            <a:ext cx="4051697" cy="641077"/>
          </a:xfrm>
          <a:prstGeom prst="roundRect">
            <a:avLst>
              <a:gd name="adj" fmla="val 1814"/>
            </a:avLst>
          </a:prstGeom>
          <a:solidFill>
            <a:srgbClr val="F0EDE6"/>
          </a:solidFill>
        </p:spPr>
      </p:sp>
      <p:sp>
        <p:nvSpPr>
          <p:cNvPr id="33" name="Text 22"/>
          <p:cNvSpPr/>
          <p:nvPr/>
        </p:nvSpPr>
        <p:spPr>
          <a:xfrm>
            <a:off x="4673650" y="4217194"/>
            <a:ext cx="969094" cy="12107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7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Feels</a:t>
            </a:r>
            <a:endParaRPr lang="en-US" sz="750" dirty="0"/>
          </a:p>
        </p:txBody>
      </p:sp>
      <p:sp>
        <p:nvSpPr>
          <p:cNvPr id="34" name="Text 23"/>
          <p:cNvSpPr/>
          <p:nvPr/>
        </p:nvSpPr>
        <p:spPr>
          <a:xfrm>
            <a:off x="4673650" y="4367287"/>
            <a:ext cx="3896767" cy="33605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121920" indent="-121920" algn="l">
              <a:lnSpc>
                <a:spcPct val="108000"/>
              </a:lnSpc>
              <a:buSzPct val="100000"/>
              <a:buChar char="•"/>
            </a:pPr>
            <a:r>
              <a:rPr lang="en-US" sz="6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Frustrated by wasted time</a:t>
            </a:r>
            <a:endParaRPr lang="en-US" sz="600" dirty="0"/>
          </a:p>
          <a:p>
            <a:pPr marL="121920" indent="-121920" algn="l">
              <a:lnSpc>
                <a:spcPct val="108000"/>
              </a:lnSpc>
              <a:buSzPct val="100000"/>
              <a:buChar char="•"/>
            </a:pPr>
            <a:r>
              <a:rPr lang="en-US" sz="6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Anxious before meeting faculty</a:t>
            </a:r>
            <a:endParaRPr lang="en-US" sz="600" dirty="0"/>
          </a:p>
          <a:p>
            <a:pPr marL="121920" indent="-121920" algn="l">
              <a:lnSpc>
                <a:spcPct val="108000"/>
              </a:lnSpc>
              <a:buSzPct val="100000"/>
              <a:buChar char="•"/>
            </a:pPr>
            <a:r>
              <a:rPr lang="en-US" sz="6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Cognitively overloaded daily</a:t>
            </a:r>
            <a:endParaRPr lang="en-US" sz="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69019"/>
            <a:ext cx="3689449" cy="24832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Define — Personas, Journey &amp; HMW</a:t>
            </a:r>
            <a:endParaRPr lang="en-US" sz="1550" dirty="0"/>
          </a:p>
        </p:txBody>
      </p:sp>
      <p:sp>
        <p:nvSpPr>
          <p:cNvPr id="3" name="Shape 1"/>
          <p:cNvSpPr/>
          <p:nvPr/>
        </p:nvSpPr>
        <p:spPr>
          <a:xfrm>
            <a:off x="438894" y="693688"/>
            <a:ext cx="4093443" cy="1449363"/>
          </a:xfrm>
          <a:prstGeom prst="roundRect">
            <a:avLst>
              <a:gd name="adj" fmla="val 822"/>
            </a:avLst>
          </a:prstGeom>
          <a:solidFill>
            <a:srgbClr val="1B5F39"/>
          </a:solidFill>
        </p:spPr>
      </p:sp>
      <p:sp>
        <p:nvSpPr>
          <p:cNvPr id="4" name="Text 2"/>
          <p:cNvSpPr/>
          <p:nvPr/>
        </p:nvSpPr>
        <p:spPr>
          <a:xfrm>
            <a:off x="518294" y="744587"/>
            <a:ext cx="1829395" cy="12412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750" dirty="0">
                <a:solidFill>
                  <a:srgbClr val="FFFFFF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Harshini R. — Primary Persona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518294" y="919609"/>
            <a:ext cx="4391844" cy="10425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600" dirty="0">
                <a:solidFill>
                  <a:srgbClr val="FFFFF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2nd Year B.Tech · Day Scholar · Engineering Dept.</a:t>
            </a:r>
            <a:endParaRPr lang="en-US" sz="600" dirty="0"/>
          </a:p>
        </p:txBody>
      </p:sp>
      <p:sp>
        <p:nvSpPr>
          <p:cNvPr id="6" name="Text 4"/>
          <p:cNvSpPr/>
          <p:nvPr/>
        </p:nvSpPr>
        <p:spPr>
          <a:xfrm>
            <a:off x="518294" y="1069628"/>
            <a:ext cx="3934644" cy="34833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121920" indent="-121920" algn="l">
              <a:lnSpc>
                <a:spcPct val="109000"/>
              </a:lnSpc>
              <a:buSzPct val="100000"/>
              <a:buChar char="•"/>
            </a:pPr>
            <a:r>
              <a:rPr lang="en-US" sz="600" dirty="0">
                <a:solidFill>
                  <a:srgbClr val="FFFFF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Navigation struggles on large campus</a:t>
            </a:r>
            <a:endParaRPr lang="en-US" sz="600" dirty="0"/>
          </a:p>
          <a:p>
            <a:pPr marL="121920" indent="-121920" algn="l">
              <a:lnSpc>
                <a:spcPct val="109000"/>
              </a:lnSpc>
              <a:buSzPct val="100000"/>
              <a:buChar char="•"/>
            </a:pPr>
            <a:r>
              <a:rPr lang="en-US" sz="600" dirty="0">
                <a:solidFill>
                  <a:srgbClr val="FFFFF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Misses announcements regularly</a:t>
            </a:r>
            <a:endParaRPr lang="en-US" sz="600" dirty="0"/>
          </a:p>
          <a:p>
            <a:pPr marL="121920" indent="-121920" algn="l">
              <a:lnSpc>
                <a:spcPct val="109000"/>
              </a:lnSpc>
              <a:buSzPct val="100000"/>
              <a:buChar char="•"/>
            </a:pPr>
            <a:r>
              <a:rPr lang="en-US" sz="600" dirty="0">
                <a:solidFill>
                  <a:srgbClr val="FFFFF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Entirely WhatsApp-dependent for updates</a:t>
            </a:r>
            <a:endParaRPr lang="en-US" sz="600" dirty="0"/>
          </a:p>
        </p:txBody>
      </p:sp>
      <p:sp>
        <p:nvSpPr>
          <p:cNvPr id="7" name="Text 5"/>
          <p:cNvSpPr/>
          <p:nvPr/>
        </p:nvSpPr>
        <p:spPr>
          <a:xfrm>
            <a:off x="518294" y="1463725"/>
            <a:ext cx="3934644" cy="20850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600" b="1" dirty="0">
                <a:solidFill>
                  <a:srgbClr val="FFFFFF"/>
                </a:solidFill>
                <a:latin typeface="Lora Bold" pitchFamily="34" charset="0"/>
                <a:ea typeface="Lora Bold" pitchFamily="34" charset="-122"/>
                <a:cs typeface="Lora Bold" pitchFamily="34" charset="-120"/>
              </a:rPr>
              <a:t>Goal:</a:t>
            </a:r>
            <a:r>
              <a:rPr lang="en-US" sz="600" dirty="0">
                <a:solidFill>
                  <a:srgbClr val="FFFFF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Complete daily academic tasks without wasting time or energy.</a:t>
            </a:r>
            <a:endParaRPr lang="en-US" sz="600" dirty="0"/>
          </a:p>
          <a:p>
            <a:pPr marL="0" indent="0" algn="l">
              <a:lnSpc>
                <a:spcPct val="109000"/>
              </a:lnSpc>
              <a:buNone/>
            </a:pPr>
            <a:r>
              <a:rPr lang="en-US" sz="600" b="1" dirty="0">
                <a:solidFill>
                  <a:srgbClr val="FFFFFF"/>
                </a:solidFill>
                <a:latin typeface="Lora Bold" pitchFamily="34" charset="0"/>
                <a:ea typeface="Lora Bold" pitchFamily="34" charset="-122"/>
                <a:cs typeface="Lora Bold" pitchFamily="34" charset="-120"/>
              </a:rPr>
              <a:t>Pain:</a:t>
            </a:r>
            <a:r>
              <a:rPr lang="en-US" sz="600" dirty="0">
                <a:solidFill>
                  <a:srgbClr val="FFFFF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No single trusted source; wastes 30–40 min every day piecing together fragmented information.</a:t>
            </a:r>
            <a:endParaRPr lang="en-US" sz="600" dirty="0"/>
          </a:p>
        </p:txBody>
      </p:sp>
      <p:sp>
        <p:nvSpPr>
          <p:cNvPr id="8" name="Text 6"/>
          <p:cNvSpPr/>
          <p:nvPr/>
        </p:nvSpPr>
        <p:spPr>
          <a:xfrm>
            <a:off x="4673650" y="744587"/>
            <a:ext cx="2029867" cy="12412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7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Prof. Vani — Secondary Stakeholder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4673650" y="919609"/>
            <a:ext cx="4436194" cy="10425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6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Assistant Professor · Computer Science</a:t>
            </a:r>
            <a:endParaRPr lang="en-US" sz="600" dirty="0"/>
          </a:p>
        </p:txBody>
      </p:sp>
      <p:sp>
        <p:nvSpPr>
          <p:cNvPr id="10" name="Text 8"/>
          <p:cNvSpPr/>
          <p:nvPr/>
        </p:nvSpPr>
        <p:spPr>
          <a:xfrm>
            <a:off x="4673650" y="1069628"/>
            <a:ext cx="3978994" cy="226293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121920" indent="-121920" algn="l">
              <a:lnSpc>
                <a:spcPct val="109000"/>
              </a:lnSpc>
              <a:buSzPct val="100000"/>
              <a:buChar char="•"/>
            </a:pPr>
            <a:r>
              <a:rPr lang="en-US" sz="6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Flooded with unannounced student queries</a:t>
            </a:r>
            <a:endParaRPr lang="en-US" sz="600" dirty="0"/>
          </a:p>
          <a:p>
            <a:pPr marL="121920" indent="-121920" algn="l">
              <a:lnSpc>
                <a:spcPct val="109000"/>
              </a:lnSpc>
              <a:buSzPct val="100000"/>
              <a:buChar char="•"/>
            </a:pPr>
            <a:r>
              <a:rPr lang="en-US" sz="6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Meeting disruptions affect research prep</a:t>
            </a:r>
            <a:endParaRPr lang="en-US" sz="600" dirty="0"/>
          </a:p>
        </p:txBody>
      </p:sp>
      <p:sp>
        <p:nvSpPr>
          <p:cNvPr id="11" name="Text 9"/>
          <p:cNvSpPr/>
          <p:nvPr/>
        </p:nvSpPr>
        <p:spPr>
          <a:xfrm>
            <a:off x="4673650" y="1341686"/>
            <a:ext cx="3978994" cy="20850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600" b="1" dirty="0">
                <a:solidFill>
                  <a:srgbClr val="2C2821"/>
                </a:solidFill>
                <a:latin typeface="Lora Bold" pitchFamily="34" charset="0"/>
                <a:ea typeface="Lora Bold" pitchFamily="34" charset="-122"/>
                <a:cs typeface="Lora Bold" pitchFamily="34" charset="-120"/>
              </a:rPr>
              <a:t>Goal:</a:t>
            </a:r>
            <a:r>
              <a:rPr lang="en-US" sz="6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Manage time efficiently, avoid unnecessary interruptions.</a:t>
            </a:r>
            <a:endParaRPr lang="en-US" sz="600" dirty="0"/>
          </a:p>
          <a:p>
            <a:pPr marL="0" indent="0" algn="l">
              <a:lnSpc>
                <a:spcPct val="109000"/>
              </a:lnSpc>
              <a:buNone/>
            </a:pPr>
            <a:r>
              <a:rPr lang="en-US" sz="600" b="1" dirty="0">
                <a:solidFill>
                  <a:srgbClr val="2C2821"/>
                </a:solidFill>
                <a:latin typeface="Lora Bold" pitchFamily="34" charset="0"/>
                <a:ea typeface="Lora Bold" pitchFamily="34" charset="-122"/>
                <a:cs typeface="Lora Bold" pitchFamily="34" charset="-120"/>
              </a:rPr>
              <a:t>Pain:</a:t>
            </a:r>
            <a:r>
              <a:rPr lang="en-US" sz="6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Students walk in unannounced; repeated queries clog cabin time and delay teaching and research.</a:t>
            </a:r>
            <a:endParaRPr lang="en-US" sz="600" dirty="0"/>
          </a:p>
        </p:txBody>
      </p:sp>
      <p:sp>
        <p:nvSpPr>
          <p:cNvPr id="12" name="Shape 10"/>
          <p:cNvSpPr/>
          <p:nvPr/>
        </p:nvSpPr>
        <p:spPr>
          <a:xfrm>
            <a:off x="4673650" y="1627212"/>
            <a:ext cx="3978994" cy="9525"/>
          </a:xfrm>
          <a:prstGeom prst="roundRect">
            <a:avLst>
              <a:gd name="adj" fmla="val 60000"/>
            </a:avLst>
          </a:prstGeom>
          <a:solidFill>
            <a:srgbClr val="2C2821">
              <a:alpha val="50000"/>
            </a:srgbClr>
          </a:solidFill>
        </p:spPr>
      </p:sp>
      <p:sp>
        <p:nvSpPr>
          <p:cNvPr id="13" name="Text 11"/>
          <p:cNvSpPr/>
          <p:nvPr/>
        </p:nvSpPr>
        <p:spPr>
          <a:xfrm>
            <a:off x="4673650" y="1713756"/>
            <a:ext cx="1529135" cy="12412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7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Point of View Statement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4673650" y="1888778"/>
            <a:ext cx="3978994" cy="20850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600" i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Harshini needs real-time contextual guidance because uncertainty creates stress and wastes valuable academic time.</a:t>
            </a:r>
            <a:endParaRPr lang="en-US" sz="600" dirty="0"/>
          </a:p>
        </p:txBody>
      </p:sp>
      <p:sp>
        <p:nvSpPr>
          <p:cNvPr id="15" name="Text 13"/>
          <p:cNvSpPr/>
          <p:nvPr/>
        </p:nvSpPr>
        <p:spPr>
          <a:xfrm>
            <a:off x="496119" y="2219399"/>
            <a:ext cx="4410670" cy="19868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As-Is Journey — Emotional Energy Drops at Every Stage</a:t>
            </a:r>
            <a:endParaRPr lang="en-US" sz="1250" dirty="0"/>
          </a:p>
        </p:txBody>
      </p:sp>
      <p:pic>
        <p:nvPicPr>
          <p:cNvPr id="1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2494434"/>
            <a:ext cx="4075881" cy="317822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575518" y="2863155"/>
            <a:ext cx="993279" cy="12412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750" dirty="0">
                <a:solidFill>
                  <a:srgbClr val="000000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🌅</a:t>
            </a:r>
            <a:r>
              <a:rPr lang="en-US" sz="7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 Morning Plan</a:t>
            </a:r>
            <a:endParaRPr lang="en-US" sz="750" dirty="0"/>
          </a:p>
        </p:txBody>
      </p:sp>
      <p:sp>
        <p:nvSpPr>
          <p:cNvPr id="18" name="Text 15"/>
          <p:cNvSpPr/>
          <p:nvPr/>
        </p:nvSpPr>
        <p:spPr>
          <a:xfrm>
            <a:off x="575518" y="3017788"/>
            <a:ext cx="3917082" cy="10425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6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Uncertain — doesn't know room or schedule changes</a:t>
            </a:r>
            <a:endParaRPr lang="en-US" sz="600" dirty="0"/>
          </a:p>
        </p:txBody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2494434"/>
            <a:ext cx="4075881" cy="317822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4651400" y="2863155"/>
            <a:ext cx="993279" cy="12412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750" dirty="0">
                <a:solidFill>
                  <a:srgbClr val="000000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🗺️</a:t>
            </a:r>
            <a:r>
              <a:rPr lang="en-US" sz="7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 Find Class</a:t>
            </a:r>
            <a:endParaRPr lang="en-US" sz="750" dirty="0"/>
          </a:p>
        </p:txBody>
      </p:sp>
      <p:sp>
        <p:nvSpPr>
          <p:cNvPr id="21" name="Text 17"/>
          <p:cNvSpPr/>
          <p:nvPr/>
        </p:nvSpPr>
        <p:spPr>
          <a:xfrm>
            <a:off x="4651400" y="3017788"/>
            <a:ext cx="3917082" cy="10425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6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Frustrated — wanders campus using informal landmarks</a:t>
            </a:r>
            <a:endParaRPr lang="en-US" sz="600" dirty="0"/>
          </a:p>
        </p:txBody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3201442"/>
            <a:ext cx="4075881" cy="317822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575518" y="3570163"/>
            <a:ext cx="993279" cy="12412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750" dirty="0">
                <a:solidFill>
                  <a:srgbClr val="000000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🚪</a:t>
            </a:r>
            <a:r>
              <a:rPr lang="en-US" sz="7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 Faculty Visit</a:t>
            </a:r>
            <a:endParaRPr lang="en-US" sz="750" dirty="0"/>
          </a:p>
        </p:txBody>
      </p:sp>
      <p:sp>
        <p:nvSpPr>
          <p:cNvPr id="24" name="Text 19"/>
          <p:cNvSpPr/>
          <p:nvPr/>
        </p:nvSpPr>
        <p:spPr>
          <a:xfrm>
            <a:off x="575518" y="3724796"/>
            <a:ext cx="3917082" cy="10425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6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Exhausted — waits 40 min with no visibility on availability</a:t>
            </a:r>
            <a:endParaRPr lang="en-US" sz="600" dirty="0"/>
          </a:p>
        </p:txBody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3201442"/>
            <a:ext cx="4075881" cy="317822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4651400" y="3570163"/>
            <a:ext cx="993279" cy="12412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750" dirty="0">
                <a:solidFill>
                  <a:srgbClr val="000000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📢</a:t>
            </a:r>
            <a:r>
              <a:rPr lang="en-US" sz="7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 Check Updates</a:t>
            </a:r>
            <a:endParaRPr lang="en-US" sz="750" dirty="0"/>
          </a:p>
        </p:txBody>
      </p:sp>
      <p:sp>
        <p:nvSpPr>
          <p:cNvPr id="27" name="Text 21"/>
          <p:cNvSpPr/>
          <p:nvPr/>
        </p:nvSpPr>
        <p:spPr>
          <a:xfrm>
            <a:off x="4651400" y="3724796"/>
            <a:ext cx="3917082" cy="10425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6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Anxious — overwhelmed by messages yet misses critical ones</a:t>
            </a:r>
            <a:endParaRPr lang="en-US" sz="600" dirty="0"/>
          </a:p>
        </p:txBody>
      </p:sp>
      <p:sp>
        <p:nvSpPr>
          <p:cNvPr id="28" name="Text 22"/>
          <p:cNvSpPr/>
          <p:nvPr/>
        </p:nvSpPr>
        <p:spPr>
          <a:xfrm>
            <a:off x="496119" y="3984799"/>
            <a:ext cx="2663800" cy="19868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Top 3 How Might We Questions</a:t>
            </a:r>
            <a:endParaRPr lang="en-US" sz="1250" dirty="0"/>
          </a:p>
        </p:txBody>
      </p:sp>
      <p:sp>
        <p:nvSpPr>
          <p:cNvPr id="29" name="Shape 23"/>
          <p:cNvSpPr/>
          <p:nvPr/>
        </p:nvSpPr>
        <p:spPr>
          <a:xfrm>
            <a:off x="496119" y="4259833"/>
            <a:ext cx="178743" cy="178743"/>
          </a:xfrm>
          <a:prstGeom prst="roundRect">
            <a:avLst>
              <a:gd name="adj" fmla="val 6669"/>
            </a:avLst>
          </a:prstGeom>
          <a:solidFill>
            <a:srgbClr val="F0EDE6"/>
          </a:solidFill>
        </p:spPr>
      </p:sp>
      <p:sp>
        <p:nvSpPr>
          <p:cNvPr id="30" name="Text 24"/>
          <p:cNvSpPr/>
          <p:nvPr/>
        </p:nvSpPr>
        <p:spPr>
          <a:xfrm>
            <a:off x="525921" y="4274716"/>
            <a:ext cx="119137" cy="148977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1</a:t>
            </a:r>
            <a:endParaRPr lang="en-US" sz="900" dirty="0"/>
          </a:p>
        </p:txBody>
      </p:sp>
      <p:sp>
        <p:nvSpPr>
          <p:cNvPr id="31" name="Text 25"/>
          <p:cNvSpPr/>
          <p:nvPr/>
        </p:nvSpPr>
        <p:spPr>
          <a:xfrm>
            <a:off x="725760" y="4287143"/>
            <a:ext cx="2445172" cy="24824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7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HMW guide students through their day without them having to search?</a:t>
            </a:r>
            <a:endParaRPr lang="en-US" sz="750" dirty="0"/>
          </a:p>
        </p:txBody>
      </p:sp>
      <p:sp>
        <p:nvSpPr>
          <p:cNvPr id="32" name="Text 26"/>
          <p:cNvSpPr/>
          <p:nvPr/>
        </p:nvSpPr>
        <p:spPr>
          <a:xfrm>
            <a:off x="725760" y="4565898"/>
            <a:ext cx="2445172" cy="20850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6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Every student described scrambling reactively, never being guided proactively.</a:t>
            </a:r>
            <a:endParaRPr lang="en-US" sz="600" dirty="0"/>
          </a:p>
        </p:txBody>
      </p:sp>
      <p:sp>
        <p:nvSpPr>
          <p:cNvPr id="33" name="Shape 27"/>
          <p:cNvSpPr/>
          <p:nvPr/>
        </p:nvSpPr>
        <p:spPr>
          <a:xfrm>
            <a:off x="3234556" y="4259833"/>
            <a:ext cx="178743" cy="178743"/>
          </a:xfrm>
          <a:prstGeom prst="roundRect">
            <a:avLst>
              <a:gd name="adj" fmla="val 6669"/>
            </a:avLst>
          </a:prstGeom>
          <a:solidFill>
            <a:srgbClr val="F0EDE6"/>
          </a:solidFill>
        </p:spPr>
      </p:sp>
      <p:sp>
        <p:nvSpPr>
          <p:cNvPr id="34" name="Text 28"/>
          <p:cNvSpPr/>
          <p:nvPr/>
        </p:nvSpPr>
        <p:spPr>
          <a:xfrm>
            <a:off x="3264359" y="4274716"/>
            <a:ext cx="119137" cy="148977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2</a:t>
            </a:r>
            <a:endParaRPr lang="en-US" sz="900" dirty="0"/>
          </a:p>
        </p:txBody>
      </p:sp>
      <p:sp>
        <p:nvSpPr>
          <p:cNvPr id="35" name="Text 29"/>
          <p:cNvSpPr/>
          <p:nvPr/>
        </p:nvSpPr>
        <p:spPr>
          <a:xfrm>
            <a:off x="3464198" y="4287143"/>
            <a:ext cx="2445172" cy="24824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7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HMW reduce wasted time using real-time faculty availability?</a:t>
            </a:r>
            <a:endParaRPr lang="en-US" sz="750" dirty="0"/>
          </a:p>
        </p:txBody>
      </p:sp>
      <p:sp>
        <p:nvSpPr>
          <p:cNvPr id="36" name="Text 30"/>
          <p:cNvSpPr/>
          <p:nvPr/>
        </p:nvSpPr>
        <p:spPr>
          <a:xfrm>
            <a:off x="3464198" y="4565898"/>
            <a:ext cx="2445172" cy="20850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6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"Waited 40 min and they were in a meeting" — the single biggest time drain identified in research.</a:t>
            </a:r>
            <a:endParaRPr lang="en-US" sz="600" dirty="0"/>
          </a:p>
        </p:txBody>
      </p:sp>
      <p:sp>
        <p:nvSpPr>
          <p:cNvPr id="37" name="Shape 31"/>
          <p:cNvSpPr/>
          <p:nvPr/>
        </p:nvSpPr>
        <p:spPr>
          <a:xfrm>
            <a:off x="5972994" y="4259833"/>
            <a:ext cx="178743" cy="178743"/>
          </a:xfrm>
          <a:prstGeom prst="roundRect">
            <a:avLst>
              <a:gd name="adj" fmla="val 6669"/>
            </a:avLst>
          </a:prstGeom>
          <a:solidFill>
            <a:srgbClr val="F0EDE6"/>
          </a:solidFill>
        </p:spPr>
      </p:sp>
      <p:sp>
        <p:nvSpPr>
          <p:cNvPr id="38" name="Text 32"/>
          <p:cNvSpPr/>
          <p:nvPr/>
        </p:nvSpPr>
        <p:spPr>
          <a:xfrm>
            <a:off x="6002796" y="4274716"/>
            <a:ext cx="119137" cy="148977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3</a:t>
            </a:r>
            <a:endParaRPr lang="en-US" sz="900" dirty="0"/>
          </a:p>
        </p:txBody>
      </p:sp>
      <p:sp>
        <p:nvSpPr>
          <p:cNvPr id="39" name="Text 33"/>
          <p:cNvSpPr/>
          <p:nvPr/>
        </p:nvSpPr>
        <p:spPr>
          <a:xfrm>
            <a:off x="6202635" y="4287143"/>
            <a:ext cx="2445172" cy="24824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7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HMW deliver updates in context, not just as generic notifications?</a:t>
            </a:r>
            <a:endParaRPr lang="en-US" sz="750" dirty="0"/>
          </a:p>
        </p:txBody>
      </p:sp>
      <p:sp>
        <p:nvSpPr>
          <p:cNvPr id="40" name="Text 34"/>
          <p:cNvSpPr/>
          <p:nvPr/>
        </p:nvSpPr>
        <p:spPr>
          <a:xfrm>
            <a:off x="6202635" y="4565898"/>
            <a:ext cx="2445172" cy="20850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6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Students were overwhelmed by messages yet still missed what genuinely mattered.</a:t>
            </a:r>
            <a:endParaRPr lang="en-US" sz="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53988"/>
            <a:ext cx="4763244" cy="33917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1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Ideation — Diverging &amp; Converging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496119" y="883072"/>
            <a:ext cx="8151763" cy="32563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Using </a:t>
            </a:r>
            <a:r>
              <a:rPr lang="en-US" sz="850" b="1" dirty="0">
                <a:solidFill>
                  <a:srgbClr val="2C2821"/>
                </a:solidFill>
                <a:latin typeface="Lora Bold" pitchFamily="34" charset="0"/>
                <a:ea typeface="Lora Bold" pitchFamily="34" charset="-122"/>
                <a:cs typeface="Lora Bold" pitchFamily="34" charset="-120"/>
              </a:rPr>
              <a:t>brainstorming, brainwriting, and SCAMPER</a:t>
            </a:r>
            <a:r>
              <a:rPr lang="en-US" sz="8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, the team generated </a:t>
            </a:r>
            <a:r>
              <a:rPr lang="en-US" sz="850" b="1" dirty="0">
                <a:solidFill>
                  <a:srgbClr val="2C2821"/>
                </a:solidFill>
                <a:latin typeface="Lora Bold" pitchFamily="34" charset="0"/>
                <a:ea typeface="Lora Bold" pitchFamily="34" charset="-122"/>
                <a:cs typeface="Lora Bold" pitchFamily="34" charset="-120"/>
              </a:rPr>
              <a:t>10+ raw ideas</a:t>
            </a:r>
            <a:r>
              <a:rPr lang="en-US" sz="8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across three themes, then used dot voting and an impact–effort matrix to filter down to three strong concept directions — which ultimately converged into one.</a:t>
            </a:r>
            <a:endParaRPr lang="en-US" sz="8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6119" y="1315492"/>
            <a:ext cx="271314" cy="27131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96119" y="1705496"/>
            <a:ext cx="1865263" cy="16951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Connected Campus Navigation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496119" y="1931938"/>
            <a:ext cx="2638127" cy="32563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Digital maps, QR-based anchors, and block/room guidance for large, confusing campuses.</a:t>
            </a:r>
            <a:endParaRPr lang="en-US" sz="8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52936" y="1315492"/>
            <a:ext cx="271314" cy="27131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252936" y="1705496"/>
            <a:ext cx="2134642" cy="16951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Faculty Availability &amp; Booking Hub</a:t>
            </a:r>
            <a:endParaRPr lang="en-US" sz="1050" dirty="0"/>
          </a:p>
        </p:txBody>
      </p:sp>
      <p:sp>
        <p:nvSpPr>
          <p:cNvPr id="9" name="Text 5"/>
          <p:cNvSpPr/>
          <p:nvPr/>
        </p:nvSpPr>
        <p:spPr>
          <a:xfrm>
            <a:off x="3252936" y="1931938"/>
            <a:ext cx="2638127" cy="32563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Real-time faculty status, meeting availability slots, and structured appointment booking.</a:t>
            </a:r>
            <a:endParaRPr lang="en-US" sz="8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009754" y="1315492"/>
            <a:ext cx="271314" cy="271314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009754" y="1705496"/>
            <a:ext cx="2005980" cy="16951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Centralised Academic Dashboard</a:t>
            </a:r>
            <a:endParaRPr lang="en-US" sz="1050" dirty="0"/>
          </a:p>
        </p:txBody>
      </p:sp>
      <p:sp>
        <p:nvSpPr>
          <p:cNvPr id="12" name="Text 7"/>
          <p:cNvSpPr/>
          <p:nvPr/>
        </p:nvSpPr>
        <p:spPr>
          <a:xfrm>
            <a:off x="6009754" y="1931938"/>
            <a:ext cx="2638127" cy="32563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One platform for announcements, exams, events, library info, and admin contacts.</a:t>
            </a:r>
            <a:endParaRPr lang="en-US" sz="85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63184" y="2364358"/>
            <a:ext cx="1984697" cy="1488504"/>
          </a:xfrm>
          <a:prstGeom prst="rect">
            <a:avLst/>
          </a:prstGeom>
        </p:spPr>
      </p:pic>
      <p:sp>
        <p:nvSpPr>
          <p:cNvPr id="14" name="Shape 8"/>
          <p:cNvSpPr/>
          <p:nvPr/>
        </p:nvSpPr>
        <p:spPr>
          <a:xfrm>
            <a:off x="496119" y="3959647"/>
            <a:ext cx="8151763" cy="560189"/>
          </a:xfrm>
          <a:prstGeom prst="roundRect">
            <a:avLst>
              <a:gd name="adj" fmla="val 2906"/>
            </a:avLst>
          </a:prstGeom>
          <a:solidFill>
            <a:srgbClr val="B6FCB8"/>
          </a:solidFill>
        </p:spPr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4614" y="4109814"/>
            <a:ext cx="135657" cy="108496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848767" y="4081686"/>
            <a:ext cx="7690619" cy="32563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50" b="1" dirty="0">
                <a:solidFill>
                  <a:srgbClr val="000000"/>
                </a:solidFill>
                <a:latin typeface="Lora Bold" pitchFamily="34" charset="0"/>
                <a:ea typeface="Lora Bold" pitchFamily="34" charset="-122"/>
                <a:cs typeface="Lora Bold" pitchFamily="34" charset="-120"/>
              </a:rPr>
              <a:t>The Convergence Insight:</a:t>
            </a:r>
            <a:r>
              <a:rPr lang="en-US" sz="850" dirty="0">
                <a:solidFill>
                  <a:srgbClr val="00000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Students don't think in features — they think in </a:t>
            </a:r>
            <a:r>
              <a:rPr lang="en-US" sz="850" i="1" dirty="0">
                <a:solidFill>
                  <a:srgbClr val="00000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"What do I need to do next?"</a:t>
            </a:r>
            <a:r>
              <a:rPr lang="en-US" sz="850" dirty="0">
                <a:solidFill>
                  <a:srgbClr val="00000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All three concepts merged into a single context-aware companion anchored by the flow: </a:t>
            </a:r>
            <a:r>
              <a:rPr lang="en-US" sz="850" b="1" dirty="0">
                <a:solidFill>
                  <a:srgbClr val="000000"/>
                </a:solidFill>
                <a:latin typeface="Lora Bold" pitchFamily="34" charset="0"/>
                <a:ea typeface="Lora Bold" pitchFamily="34" charset="-122"/>
                <a:cs typeface="Lora Bold" pitchFamily="34" charset="-120"/>
              </a:rPr>
              <a:t>Timetable → Next Class → Navigate.</a:t>
            </a:r>
            <a:endParaRPr lang="en-US" sz="850" dirty="0"/>
          </a:p>
        </p:txBody>
      </p:sp>
      <p:sp>
        <p:nvSpPr>
          <p:cNvPr id="17" name="Text 10"/>
          <p:cNvSpPr/>
          <p:nvPr/>
        </p:nvSpPr>
        <p:spPr>
          <a:xfrm>
            <a:off x="496119" y="4626620"/>
            <a:ext cx="8608963" cy="16281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83009"/>
            <a:ext cx="3996556" cy="29676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Prototyping — 4 Iterative Rounds</a:t>
            </a:r>
            <a:endParaRPr lang="en-US" sz="1850" dirty="0"/>
          </a:p>
        </p:txBody>
      </p:sp>
      <p:sp>
        <p:nvSpPr>
          <p:cNvPr id="3" name="Text 1"/>
          <p:cNvSpPr/>
          <p:nvPr/>
        </p:nvSpPr>
        <p:spPr>
          <a:xfrm>
            <a:off x="496119" y="825178"/>
            <a:ext cx="8151763" cy="26818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7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The team built and tested </a:t>
            </a:r>
            <a:r>
              <a:rPr lang="en-US" sz="700" b="1" dirty="0">
                <a:solidFill>
                  <a:srgbClr val="2C2821"/>
                </a:solidFill>
                <a:latin typeface="Lora Bold" pitchFamily="34" charset="0"/>
                <a:ea typeface="Lora Bold" pitchFamily="34" charset="-122"/>
                <a:cs typeface="Lora Bold" pitchFamily="34" charset="-120"/>
              </a:rPr>
              <a:t>four successive prototypes</a:t>
            </a:r>
            <a:r>
              <a:rPr lang="en-US" sz="7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— from paper sketches to a live, ERP-integrated app — using Lovable.dev, Replit AI, and Visual Studio Code. Each round sharpened the core insight: simplicity and context-awareness matter more than feature depth.</a:t>
            </a:r>
            <a:endParaRPr lang="en-US" sz="700" dirty="0"/>
          </a:p>
        </p:txBody>
      </p:sp>
      <p:sp>
        <p:nvSpPr>
          <p:cNvPr id="4" name="Shape 2"/>
          <p:cNvSpPr/>
          <p:nvPr/>
        </p:nvSpPr>
        <p:spPr>
          <a:xfrm>
            <a:off x="4567238" y="1175147"/>
            <a:ext cx="9525" cy="2255416"/>
          </a:xfrm>
          <a:prstGeom prst="roundRect">
            <a:avLst>
              <a:gd name="adj" fmla="val 149564"/>
            </a:avLst>
          </a:prstGeom>
          <a:solidFill>
            <a:srgbClr val="D6D3CC"/>
          </a:solidFill>
        </p:spPr>
      </p:sp>
      <p:sp>
        <p:nvSpPr>
          <p:cNvPr id="5" name="Shape 3"/>
          <p:cNvSpPr/>
          <p:nvPr/>
        </p:nvSpPr>
        <p:spPr>
          <a:xfrm>
            <a:off x="4189847" y="1277169"/>
            <a:ext cx="284857" cy="9525"/>
          </a:xfrm>
          <a:prstGeom prst="roundRect">
            <a:avLst>
              <a:gd name="adj" fmla="val 149564"/>
            </a:avLst>
          </a:prstGeom>
          <a:solidFill>
            <a:srgbClr val="D6D3CC"/>
          </a:solidFill>
        </p:spPr>
      </p:sp>
      <p:sp>
        <p:nvSpPr>
          <p:cNvPr id="6" name="Shape 4"/>
          <p:cNvSpPr/>
          <p:nvPr/>
        </p:nvSpPr>
        <p:spPr>
          <a:xfrm>
            <a:off x="4465179" y="1175147"/>
            <a:ext cx="213643" cy="213643"/>
          </a:xfrm>
          <a:prstGeom prst="roundRect">
            <a:avLst>
              <a:gd name="adj" fmla="val 6668"/>
            </a:avLst>
          </a:prstGeom>
          <a:solidFill>
            <a:srgbClr val="F0EDE6"/>
          </a:solidFill>
        </p:spPr>
      </p:sp>
      <p:sp>
        <p:nvSpPr>
          <p:cNvPr id="7" name="Text 5"/>
          <p:cNvSpPr/>
          <p:nvPr/>
        </p:nvSpPr>
        <p:spPr>
          <a:xfrm>
            <a:off x="4500749" y="1192895"/>
            <a:ext cx="142429" cy="178073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910036" y="1207740"/>
            <a:ext cx="1187128" cy="14830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9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V1 — Paper Sketch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96119" y="1399654"/>
            <a:ext cx="3601045" cy="26818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ct val="118000"/>
              </a:lnSpc>
              <a:buNone/>
            </a:pPr>
            <a:r>
              <a:rPr lang="en-US" sz="7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Feature-heavy navigation app. Identified core mental model but overwhelmed users with options.</a:t>
            </a:r>
            <a:endParaRPr lang="en-US" sz="700" dirty="0"/>
          </a:p>
        </p:txBody>
      </p:sp>
      <p:sp>
        <p:nvSpPr>
          <p:cNvPr id="10" name="Shape 8"/>
          <p:cNvSpPr/>
          <p:nvPr/>
        </p:nvSpPr>
        <p:spPr>
          <a:xfrm>
            <a:off x="4669296" y="1802457"/>
            <a:ext cx="284857" cy="9525"/>
          </a:xfrm>
          <a:prstGeom prst="roundRect">
            <a:avLst>
              <a:gd name="adj" fmla="val 149564"/>
            </a:avLst>
          </a:prstGeom>
          <a:solidFill>
            <a:srgbClr val="D6D3CC"/>
          </a:solidFill>
        </p:spPr>
      </p:sp>
      <p:sp>
        <p:nvSpPr>
          <p:cNvPr id="11" name="Shape 9"/>
          <p:cNvSpPr/>
          <p:nvPr/>
        </p:nvSpPr>
        <p:spPr>
          <a:xfrm>
            <a:off x="4465179" y="1700436"/>
            <a:ext cx="213643" cy="213643"/>
          </a:xfrm>
          <a:prstGeom prst="roundRect">
            <a:avLst>
              <a:gd name="adj" fmla="val 6668"/>
            </a:avLst>
          </a:prstGeom>
          <a:solidFill>
            <a:srgbClr val="F0EDE6"/>
          </a:solidFill>
        </p:spPr>
      </p:sp>
      <p:sp>
        <p:nvSpPr>
          <p:cNvPr id="12" name="Text 10"/>
          <p:cNvSpPr/>
          <p:nvPr/>
        </p:nvSpPr>
        <p:spPr>
          <a:xfrm>
            <a:off x="4500749" y="1718183"/>
            <a:ext cx="142429" cy="178073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46836" y="1733029"/>
            <a:ext cx="1368623" cy="14830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V2 — Clickable Wireframe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046836" y="1924943"/>
            <a:ext cx="3601045" cy="26818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7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Basic dashboard introduced. Interaction flows validated; visual hierarchy issues surfaced.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4189847" y="2271340"/>
            <a:ext cx="284857" cy="9525"/>
          </a:xfrm>
          <a:prstGeom prst="roundRect">
            <a:avLst>
              <a:gd name="adj" fmla="val 149564"/>
            </a:avLst>
          </a:prstGeom>
          <a:solidFill>
            <a:srgbClr val="D6D3CC"/>
          </a:solidFill>
        </p:spPr>
      </p:sp>
      <p:sp>
        <p:nvSpPr>
          <p:cNvPr id="16" name="Shape 14"/>
          <p:cNvSpPr/>
          <p:nvPr/>
        </p:nvSpPr>
        <p:spPr>
          <a:xfrm>
            <a:off x="4465179" y="2169319"/>
            <a:ext cx="213643" cy="213643"/>
          </a:xfrm>
          <a:prstGeom prst="roundRect">
            <a:avLst>
              <a:gd name="adj" fmla="val 6668"/>
            </a:avLst>
          </a:prstGeom>
          <a:solidFill>
            <a:srgbClr val="F0EDE6"/>
          </a:solidFill>
        </p:spPr>
      </p:sp>
      <p:sp>
        <p:nvSpPr>
          <p:cNvPr id="17" name="Text 15"/>
          <p:cNvSpPr/>
          <p:nvPr/>
        </p:nvSpPr>
        <p:spPr>
          <a:xfrm>
            <a:off x="4500749" y="2187067"/>
            <a:ext cx="142429" cy="178073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678757" y="2201912"/>
            <a:ext cx="1418406" cy="14830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9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V3 — ERP/LMS Integration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96119" y="2393826"/>
            <a:ext cx="3601045" cy="26818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ct val="118000"/>
              </a:lnSpc>
              <a:buNone/>
            </a:pPr>
            <a:r>
              <a:rPr lang="en-US" sz="7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Real data via Lovable.dev. Faculty availability module added; information overload identified.</a:t>
            </a:r>
            <a:endParaRPr lang="en-US" sz="700" dirty="0"/>
          </a:p>
        </p:txBody>
      </p:sp>
      <p:sp>
        <p:nvSpPr>
          <p:cNvPr id="20" name="Shape 18"/>
          <p:cNvSpPr/>
          <p:nvPr/>
        </p:nvSpPr>
        <p:spPr>
          <a:xfrm>
            <a:off x="4669296" y="2740223"/>
            <a:ext cx="284857" cy="9525"/>
          </a:xfrm>
          <a:prstGeom prst="roundRect">
            <a:avLst>
              <a:gd name="adj" fmla="val 149564"/>
            </a:avLst>
          </a:prstGeom>
          <a:solidFill>
            <a:srgbClr val="D6D3CC"/>
          </a:solidFill>
        </p:spPr>
      </p:sp>
      <p:sp>
        <p:nvSpPr>
          <p:cNvPr id="21" name="Shape 19"/>
          <p:cNvSpPr/>
          <p:nvPr/>
        </p:nvSpPr>
        <p:spPr>
          <a:xfrm>
            <a:off x="4465179" y="2638202"/>
            <a:ext cx="213643" cy="213643"/>
          </a:xfrm>
          <a:prstGeom prst="roundRect">
            <a:avLst>
              <a:gd name="adj" fmla="val 6668"/>
            </a:avLst>
          </a:prstGeom>
          <a:solidFill>
            <a:srgbClr val="F0EDE6"/>
          </a:solidFill>
        </p:spPr>
      </p:sp>
      <p:sp>
        <p:nvSpPr>
          <p:cNvPr id="22" name="Text 20"/>
          <p:cNvSpPr/>
          <p:nvPr/>
        </p:nvSpPr>
        <p:spPr>
          <a:xfrm>
            <a:off x="4500749" y="2655950"/>
            <a:ext cx="142429" cy="178073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4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046836" y="2670795"/>
            <a:ext cx="1713086" cy="14830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V4 — Context-Aware Companion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046836" y="2862709"/>
            <a:ext cx="3601045" cy="26818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7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Built on Replit + VS Code. "Next Class" as hero feature. Landmark-based navigation. Context-first principle applied throughout.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427732" y="3512344"/>
            <a:ext cx="4096792" cy="1248147"/>
          </a:xfrm>
          <a:prstGeom prst="roundRect">
            <a:avLst>
              <a:gd name="adj" fmla="val 1141"/>
            </a:avLst>
          </a:prstGeom>
          <a:solidFill>
            <a:srgbClr val="1B5F39"/>
          </a:solidFill>
        </p:spPr>
      </p:sp>
      <p:sp>
        <p:nvSpPr>
          <p:cNvPr id="26" name="Text 24"/>
          <p:cNvSpPr/>
          <p:nvPr/>
        </p:nvSpPr>
        <p:spPr>
          <a:xfrm>
            <a:off x="522684" y="3585046"/>
            <a:ext cx="1644328" cy="14830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Home Dashboard (V4)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22684" y="3806056"/>
            <a:ext cx="3906887" cy="88902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Lora Bold" pitchFamily="34" charset="0"/>
                <a:ea typeface="Lora Bold" pitchFamily="34" charset="-122"/>
                <a:cs typeface="Lora Bold" pitchFamily="34" charset="-120"/>
              </a:rPr>
              <a:t>Good morning, Harshini </a:t>
            </a:r>
            <a:r>
              <a:rPr lang="en-US" sz="700" dirty="0">
                <a:solidFill>
                  <a:srgbClr val="00000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👋</a:t>
            </a:r>
            <a:endParaRPr lang="en-US" sz="7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700" dirty="0">
                <a:solidFill>
                  <a:srgbClr val="FFFFF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Next Class · in 12 min</a:t>
            </a:r>
            <a:endParaRPr lang="en-US" sz="7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700" dirty="0">
                <a:solidFill>
                  <a:srgbClr val="FFFFF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Data Structures · Room B-304, Block B, Floor 3</a:t>
            </a:r>
            <a:endParaRPr lang="en-US" sz="700" dirty="0"/>
          </a:p>
          <a:p>
            <a:pPr marL="0" indent="0" algn="l">
              <a:lnSpc>
                <a:spcPct val="118000"/>
              </a:lnSpc>
              <a:spcAft>
                <a:spcPts val="500"/>
              </a:spcAft>
              <a:buNone/>
            </a:pPr>
            <a:r>
              <a:rPr lang="en-US" sz="700" dirty="0">
                <a:solidFill>
                  <a:srgbClr val="00000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↗</a:t>
            </a:r>
            <a:r>
              <a:rPr lang="en-US" sz="700" dirty="0">
                <a:solidFill>
                  <a:srgbClr val="FFFFF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Navigate Now</a:t>
            </a:r>
            <a:endParaRPr lang="en-US" sz="7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700" dirty="0">
                <a:solidFill>
                  <a:srgbClr val="00000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📌</a:t>
            </a:r>
            <a:r>
              <a:rPr lang="en-US" sz="700" dirty="0">
                <a:solidFill>
                  <a:srgbClr val="FFFFF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Mid-sem timetable released — check now</a:t>
            </a:r>
            <a:endParaRPr lang="en-US" sz="7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700" dirty="0">
                <a:solidFill>
                  <a:srgbClr val="00000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⚠️</a:t>
            </a:r>
            <a:r>
              <a:rPr lang="en-US" sz="700" dirty="0">
                <a:solidFill>
                  <a:srgbClr val="FFFFF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Lab session moved to B-201 tomorrow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4692625" y="3585046"/>
            <a:ext cx="1948681" cy="14830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Faculty Availability Hub (V4)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692625" y="3806056"/>
            <a:ext cx="3960019" cy="606549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700" b="1" dirty="0">
                <a:solidFill>
                  <a:srgbClr val="2C2821"/>
                </a:solidFill>
                <a:latin typeface="Lora Bold" pitchFamily="34" charset="0"/>
                <a:ea typeface="Lora Bold" pitchFamily="34" charset="-122"/>
                <a:cs typeface="Lora Bold" pitchFamily="34" charset="-120"/>
              </a:rPr>
              <a:t>Prof. Sharma</a:t>
            </a:r>
            <a:r>
              <a:rPr lang="en-US" sz="7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— Available · Cabin C-112 · Till 11 AM</a:t>
            </a:r>
            <a:endParaRPr lang="en-US" sz="7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700" b="1" dirty="0">
                <a:solidFill>
                  <a:srgbClr val="2C2821"/>
                </a:solidFill>
                <a:latin typeface="Lora Bold" pitchFamily="34" charset="0"/>
                <a:ea typeface="Lora Bold" pitchFamily="34" charset="-122"/>
                <a:cs typeface="Lora Bold" pitchFamily="34" charset="-120"/>
              </a:rPr>
              <a:t>Dr. Meena Iyer</a:t>
            </a:r>
            <a:r>
              <a:rPr lang="en-US" sz="7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— In meeting · Back at 12:30 PM</a:t>
            </a:r>
            <a:endParaRPr lang="en-US" sz="700" dirty="0"/>
          </a:p>
          <a:p>
            <a:pPr marL="0" indent="0" algn="l">
              <a:lnSpc>
                <a:spcPct val="118000"/>
              </a:lnSpc>
              <a:spcAft>
                <a:spcPts val="500"/>
              </a:spcAft>
              <a:buNone/>
            </a:pPr>
            <a:r>
              <a:rPr lang="en-US" sz="700" b="1" dirty="0">
                <a:solidFill>
                  <a:srgbClr val="2C2821"/>
                </a:solidFill>
                <a:latin typeface="Lora Bold" pitchFamily="34" charset="0"/>
                <a:ea typeface="Lora Bold" pitchFamily="34" charset="-122"/>
                <a:cs typeface="Lora Bold" pitchFamily="34" charset="-120"/>
              </a:rPr>
              <a:t>Prof. Rajan</a:t>
            </a:r>
            <a:r>
              <a:rPr lang="en-US" sz="7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— Available · Virtual appointments open</a:t>
            </a:r>
            <a:endParaRPr lang="en-US" sz="7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700" dirty="0">
                <a:solidFill>
                  <a:srgbClr val="00000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👉</a:t>
            </a:r>
            <a:r>
              <a:rPr lang="en-US" sz="7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</a:t>
            </a:r>
            <a:r>
              <a:rPr lang="en-US" sz="700" b="1" dirty="0">
                <a:solidFill>
                  <a:srgbClr val="2C2821"/>
                </a:solidFill>
                <a:latin typeface="Lora Bold" pitchFamily="34" charset="0"/>
                <a:ea typeface="Lora Bold" pitchFamily="34" charset="-122"/>
                <a:cs typeface="Lora Bold" pitchFamily="34" charset="-120"/>
              </a:rPr>
              <a:t>Book an Appointment</a:t>
            </a:r>
            <a:r>
              <a:rPr lang="en-US" sz="7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— structured, no more blind cabin visits.</a:t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04738"/>
            <a:ext cx="8608963" cy="9056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endParaRPr lang="en-US" sz="5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588466"/>
            <a:ext cx="1150441" cy="1858194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98812" y="588466"/>
            <a:ext cx="2863974" cy="1868686"/>
          </a:xfrm>
          <a:prstGeom prst="rect">
            <a:avLst/>
          </a:prstGeom>
        </p:spPr>
      </p:pic>
      <p:pic>
        <p:nvPicPr>
          <p:cNvPr id="5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6503" y="588466"/>
            <a:ext cx="1187202" cy="1858194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>
            <a:off x="496119" y="2550319"/>
            <a:ext cx="8608963" cy="9056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endParaRPr lang="en-US" sz="550" dirty="0"/>
          </a:p>
        </p:txBody>
      </p:sp>
      <p:pic>
        <p:nvPicPr>
          <p:cNvPr id="7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6119" y="2734047"/>
            <a:ext cx="1278062" cy="1858194"/>
          </a:xfrm>
          <a:prstGeom prst="rect">
            <a:avLst/>
          </a:prstGeom>
        </p:spPr>
      </p:pic>
      <p:pic>
        <p:nvPicPr>
          <p:cNvPr id="8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04431" y="2734047"/>
            <a:ext cx="1143298" cy="1858194"/>
          </a:xfrm>
          <a:prstGeom prst="rect">
            <a:avLst/>
          </a:prstGeom>
        </p:spPr>
      </p:pic>
      <p:pic>
        <p:nvPicPr>
          <p:cNvPr id="9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36357" y="2734047"/>
            <a:ext cx="1171501" cy="1858194"/>
          </a:xfrm>
          <a:prstGeom prst="rect">
            <a:avLst/>
          </a:prstGeom>
        </p:spPr>
      </p:pic>
      <p:sp>
        <p:nvSpPr>
          <p:cNvPr id="10" name="Text 2"/>
          <p:cNvSpPr/>
          <p:nvPr/>
        </p:nvSpPr>
        <p:spPr>
          <a:xfrm>
            <a:off x="496119" y="4685407"/>
            <a:ext cx="8608963" cy="9056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endParaRPr lang="en-US" sz="5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88082"/>
            <a:ext cx="5316289" cy="38754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User Testing &amp; Iteration Outcomes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96119" y="1123652"/>
            <a:ext cx="8151763" cy="39692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Testing involved </a:t>
            </a:r>
            <a:r>
              <a:rPr lang="en-US" sz="950" b="1" dirty="0">
                <a:solidFill>
                  <a:srgbClr val="2C2821"/>
                </a:solidFill>
                <a:latin typeface="Lora Bold" pitchFamily="34" charset="0"/>
                <a:ea typeface="Lora Bold" pitchFamily="34" charset="-122"/>
                <a:cs typeface="Lora Bold" pitchFamily="34" charset="-120"/>
              </a:rPr>
              <a:t>8 participants across 3 rounds</a:t>
            </a:r>
            <a:r>
              <a:rPr lang="en-US" sz="9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using think-aloud protocol and scenario-based tasks: find Room B-304 in 15 minutes; confirm Prof. Sharma's availability; check today's announcements. Feedback was decisive and actionable.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496119" y="1722090"/>
            <a:ext cx="3998342" cy="40935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2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7/8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720007" y="2286446"/>
            <a:ext cx="1550566" cy="19384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Said auto-navigation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96119" y="2554709"/>
            <a:ext cx="3998342" cy="19846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9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Was "exactly what they needed" — highest-rated feature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4649465" y="1722090"/>
            <a:ext cx="3998416" cy="40935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2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10s→3s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5817840" y="2286446"/>
            <a:ext cx="1661666" cy="19384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Task-identification time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649465" y="2554709"/>
            <a:ext cx="3998416" cy="19846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9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After making "Next Class" the hero feature on the dashboard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96119" y="3016672"/>
            <a:ext cx="2007766" cy="19384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✓ What Worked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96119" y="3334494"/>
            <a:ext cx="3924598" cy="1277541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193040" indent="-193040" algn="l">
              <a:lnSpc>
                <a:spcPct val="133000"/>
              </a:lnSpc>
              <a:buSzPct val="100000"/>
              <a:buChar char="•"/>
            </a:pPr>
            <a:r>
              <a:rPr lang="en-US" sz="950" b="1" dirty="0">
                <a:solidFill>
                  <a:srgbClr val="2C2821"/>
                </a:solidFill>
                <a:latin typeface="Lora Bold" pitchFamily="34" charset="0"/>
                <a:ea typeface="Lora Bold" pitchFamily="34" charset="-122"/>
                <a:cs typeface="Lora Bold" pitchFamily="34" charset="-120"/>
              </a:rPr>
              <a:t>Timetable-integrated navigation</a:t>
            </a:r>
            <a:r>
              <a:rPr lang="en-US" sz="9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— felt intuitive, matched students' mental model perfectly</a:t>
            </a:r>
            <a:endParaRPr lang="en-US" sz="950" dirty="0"/>
          </a:p>
          <a:p>
            <a:pPr marL="193040" indent="-193040" algn="l">
              <a:lnSpc>
                <a:spcPct val="133000"/>
              </a:lnSpc>
              <a:buSzPct val="100000"/>
              <a:buChar char="•"/>
            </a:pPr>
            <a:r>
              <a:rPr lang="en-US" sz="950" b="1" dirty="0">
                <a:solidFill>
                  <a:srgbClr val="2C2821"/>
                </a:solidFill>
                <a:latin typeface="Lora Bold" pitchFamily="34" charset="0"/>
                <a:ea typeface="Lora Bold" pitchFamily="34" charset="-122"/>
                <a:cs typeface="Lora Bold" pitchFamily="34" charset="-120"/>
              </a:rPr>
              <a:t>Contextual announcements</a:t>
            </a:r>
            <a:r>
              <a:rPr lang="en-US" sz="9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— significantly reduced information overload</a:t>
            </a:r>
            <a:endParaRPr lang="en-US" sz="950" dirty="0"/>
          </a:p>
          <a:p>
            <a:pPr marL="193040" indent="-193040" algn="l">
              <a:lnSpc>
                <a:spcPct val="133000"/>
              </a:lnSpc>
              <a:buSzPct val="100000"/>
              <a:buChar char="•"/>
            </a:pPr>
            <a:r>
              <a:rPr lang="en-US" sz="950" b="1" dirty="0">
                <a:solidFill>
                  <a:srgbClr val="2C2821"/>
                </a:solidFill>
                <a:latin typeface="Lora Bold" pitchFamily="34" charset="0"/>
                <a:ea typeface="Lora Bold" pitchFamily="34" charset="-122"/>
                <a:cs typeface="Lora Bold" pitchFamily="34" charset="-120"/>
              </a:rPr>
              <a:t>Faculty status visibility</a:t>
            </a:r>
            <a:r>
              <a:rPr lang="en-US" sz="9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— eliminated the need for guesswork cabin visits entirely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728046" y="3016672"/>
            <a:ext cx="2486844" cy="19384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✗ What Failed (and Was Fixed)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728046" y="3334494"/>
            <a:ext cx="3924598" cy="1277541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193040" indent="-193040" algn="l">
              <a:lnSpc>
                <a:spcPct val="133000"/>
              </a:lnSpc>
              <a:buSzPct val="100000"/>
              <a:buChar char="•"/>
            </a:pPr>
            <a:r>
              <a:rPr lang="en-US" sz="950" b="1" dirty="0">
                <a:solidFill>
                  <a:srgbClr val="2C2821"/>
                </a:solidFill>
                <a:latin typeface="Lora Bold" pitchFamily="34" charset="0"/>
                <a:ea typeface="Lora Bold" pitchFamily="34" charset="-122"/>
                <a:cs typeface="Lora Bold" pitchFamily="34" charset="-120"/>
              </a:rPr>
              <a:t>Visual hierarchy</a:t>
            </a:r>
            <a:r>
              <a:rPr lang="en-US" sz="9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— all features had equal weight; "Next Class" was buried → made it the hero</a:t>
            </a:r>
            <a:endParaRPr lang="en-US" sz="950" dirty="0"/>
          </a:p>
          <a:p>
            <a:pPr marL="193040" indent="-193040" algn="l">
              <a:lnSpc>
                <a:spcPct val="133000"/>
              </a:lnSpc>
              <a:buSzPct val="100000"/>
              <a:buChar char="•"/>
            </a:pPr>
            <a:r>
              <a:rPr lang="en-US" sz="950" b="1" dirty="0">
                <a:solidFill>
                  <a:srgbClr val="2C2821"/>
                </a:solidFill>
                <a:latin typeface="Lora Bold" pitchFamily="34" charset="0"/>
                <a:ea typeface="Lora Bold" pitchFamily="34" charset="-122"/>
                <a:cs typeface="Lora Bold" pitchFamily="34" charset="-120"/>
              </a:rPr>
              <a:t>Navigation lacked landmarks</a:t>
            </a:r>
            <a:r>
              <a:rPr lang="en-US" sz="9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— first-years still uncertain → added lifts, canteens, block entrances as wayfinding anchors</a:t>
            </a:r>
            <a:endParaRPr lang="en-US" sz="950" dirty="0"/>
          </a:p>
          <a:p>
            <a:pPr marL="193040" indent="-193040" algn="l">
              <a:lnSpc>
                <a:spcPct val="133000"/>
              </a:lnSpc>
              <a:buSzPct val="100000"/>
              <a:buChar char="•"/>
            </a:pPr>
            <a:r>
              <a:rPr lang="en-US" sz="950" b="1" dirty="0">
                <a:solidFill>
                  <a:srgbClr val="2C2821"/>
                </a:solidFill>
                <a:latin typeface="Lora Bold" pitchFamily="34" charset="0"/>
                <a:ea typeface="Lora Bold" pitchFamily="34" charset="-122"/>
                <a:cs typeface="Lora Bold" pitchFamily="34" charset="-120"/>
              </a:rPr>
              <a:t>Feature overload</a:t>
            </a:r>
            <a:r>
              <a:rPr lang="en-US" sz="9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→ applied context-first principle: only show what matters right now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41114"/>
            <a:ext cx="2215158" cy="19384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Final Solution &amp; Viability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96119" y="596950"/>
            <a:ext cx="8608963" cy="7434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The </a:t>
            </a:r>
            <a:r>
              <a:rPr lang="en-US" sz="450" b="1" dirty="0">
                <a:solidFill>
                  <a:srgbClr val="2C2821"/>
                </a:solidFill>
                <a:latin typeface="Lora Bold" pitchFamily="34" charset="0"/>
                <a:ea typeface="Lora Bold" pitchFamily="34" charset="-122"/>
                <a:cs typeface="Lora Bold" pitchFamily="34" charset="-120"/>
              </a:rPr>
              <a:t>Smart Campus Companion App (V4)</a:t>
            </a:r>
            <a:r>
              <a:rPr lang="en-US" sz="4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is a timetable-driven, context-aware guide designed for large Indian university campuses. Pilot results: task-completion time reduced by </a:t>
            </a:r>
            <a:r>
              <a:rPr lang="en-US" sz="450" b="1" dirty="0">
                <a:solidFill>
                  <a:srgbClr val="2C2821"/>
                </a:solidFill>
                <a:latin typeface="Lora Bold" pitchFamily="34" charset="0"/>
                <a:ea typeface="Lora Bold" pitchFamily="34" charset="-122"/>
                <a:cs typeface="Lora Bold" pitchFamily="34" charset="-120"/>
              </a:rPr>
              <a:t>50%</a:t>
            </a:r>
            <a:r>
              <a:rPr lang="en-US" sz="4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, cabin wait time cut by </a:t>
            </a:r>
            <a:r>
              <a:rPr lang="en-US" sz="450" b="1" dirty="0">
                <a:solidFill>
                  <a:srgbClr val="2C2821"/>
                </a:solidFill>
                <a:latin typeface="Lora Bold" pitchFamily="34" charset="0"/>
                <a:ea typeface="Lora Bold" pitchFamily="34" charset="-122"/>
                <a:cs typeface="Lora Bold" pitchFamily="34" charset="-120"/>
              </a:rPr>
              <a:t>70%</a:t>
            </a:r>
            <a:r>
              <a:rPr lang="en-US" sz="4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, and satisfaction rose from </a:t>
            </a:r>
            <a:r>
              <a:rPr lang="en-US" sz="450" b="1" dirty="0">
                <a:solidFill>
                  <a:srgbClr val="2C2821"/>
                </a:solidFill>
                <a:latin typeface="Lora Bold" pitchFamily="34" charset="0"/>
                <a:ea typeface="Lora Bold" pitchFamily="34" charset="-122"/>
                <a:cs typeface="Lora Bold" pitchFamily="34" charset="-120"/>
              </a:rPr>
              <a:t>2.8 to 4.2/5.0</a:t>
            </a:r>
            <a:r>
              <a:rPr lang="en-US" sz="4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.</a:t>
            </a:r>
            <a:endParaRPr lang="en-US" sz="450" dirty="0"/>
          </a:p>
        </p:txBody>
      </p:sp>
      <p:sp>
        <p:nvSpPr>
          <p:cNvPr id="4" name="Shape 2"/>
          <p:cNvSpPr/>
          <p:nvPr/>
        </p:nvSpPr>
        <p:spPr>
          <a:xfrm>
            <a:off x="496119" y="706115"/>
            <a:ext cx="4060403" cy="313804"/>
          </a:xfrm>
          <a:prstGeom prst="roundRect">
            <a:avLst>
              <a:gd name="adj" fmla="val 2965"/>
            </a:avLst>
          </a:prstGeom>
          <a:solidFill>
            <a:srgbClr val="F0EDE6"/>
          </a:solidFill>
        </p:spPr>
      </p:sp>
      <p:sp>
        <p:nvSpPr>
          <p:cNvPr id="5" name="Text 3"/>
          <p:cNvSpPr/>
          <p:nvPr/>
        </p:nvSpPr>
        <p:spPr>
          <a:xfrm>
            <a:off x="558105" y="768102"/>
            <a:ext cx="775246" cy="9688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2D Smart Navigation</a:t>
            </a:r>
            <a:endParaRPr lang="en-US" sz="600" dirty="0"/>
          </a:p>
        </p:txBody>
      </p:sp>
      <p:sp>
        <p:nvSpPr>
          <p:cNvPr id="6" name="Text 4"/>
          <p:cNvSpPr/>
          <p:nvPr/>
        </p:nvSpPr>
        <p:spPr>
          <a:xfrm>
            <a:off x="558105" y="883593"/>
            <a:ext cx="3936429" cy="7434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Floor-wise indoor maps, QR anchor points, and room search with landmark-based wayfinding.</a:t>
            </a:r>
            <a:endParaRPr lang="en-US" sz="450" dirty="0"/>
          </a:p>
        </p:txBody>
      </p:sp>
      <p:sp>
        <p:nvSpPr>
          <p:cNvPr id="7" name="Shape 5"/>
          <p:cNvSpPr/>
          <p:nvPr/>
        </p:nvSpPr>
        <p:spPr>
          <a:xfrm>
            <a:off x="4587478" y="706115"/>
            <a:ext cx="4060403" cy="313804"/>
          </a:xfrm>
          <a:prstGeom prst="roundRect">
            <a:avLst>
              <a:gd name="adj" fmla="val 2965"/>
            </a:avLst>
          </a:prstGeom>
          <a:solidFill>
            <a:srgbClr val="F0EDE6"/>
          </a:solidFill>
        </p:spPr>
      </p:sp>
      <p:sp>
        <p:nvSpPr>
          <p:cNvPr id="8" name="Text 6"/>
          <p:cNvSpPr/>
          <p:nvPr/>
        </p:nvSpPr>
        <p:spPr>
          <a:xfrm>
            <a:off x="4649465" y="768102"/>
            <a:ext cx="775246" cy="9688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Auto Class Navigation</a:t>
            </a:r>
            <a:endParaRPr lang="en-US" sz="600" dirty="0"/>
          </a:p>
        </p:txBody>
      </p:sp>
      <p:sp>
        <p:nvSpPr>
          <p:cNvPr id="9" name="Text 7"/>
          <p:cNvSpPr/>
          <p:nvPr/>
        </p:nvSpPr>
        <p:spPr>
          <a:xfrm>
            <a:off x="4649465" y="883593"/>
            <a:ext cx="3936429" cy="7434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Timetable sync enables one-tap "Go to Next Class" — proactive, not reactive.</a:t>
            </a:r>
            <a:endParaRPr lang="en-US" sz="450" dirty="0"/>
          </a:p>
        </p:txBody>
      </p:sp>
      <p:sp>
        <p:nvSpPr>
          <p:cNvPr id="10" name="Shape 8"/>
          <p:cNvSpPr/>
          <p:nvPr/>
        </p:nvSpPr>
        <p:spPr>
          <a:xfrm>
            <a:off x="496119" y="1050875"/>
            <a:ext cx="4060403" cy="313804"/>
          </a:xfrm>
          <a:prstGeom prst="roundRect">
            <a:avLst>
              <a:gd name="adj" fmla="val 2965"/>
            </a:avLst>
          </a:prstGeom>
          <a:solidFill>
            <a:srgbClr val="F0EDE6"/>
          </a:solidFill>
        </p:spPr>
      </p:sp>
      <p:sp>
        <p:nvSpPr>
          <p:cNvPr id="11" name="Text 9"/>
          <p:cNvSpPr/>
          <p:nvPr/>
        </p:nvSpPr>
        <p:spPr>
          <a:xfrm>
            <a:off x="558105" y="1112862"/>
            <a:ext cx="828973" cy="9688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Faculty Availability Hub</a:t>
            </a:r>
            <a:endParaRPr lang="en-US" sz="600" dirty="0"/>
          </a:p>
        </p:txBody>
      </p:sp>
      <p:sp>
        <p:nvSpPr>
          <p:cNvPr id="12" name="Text 10"/>
          <p:cNvSpPr/>
          <p:nvPr/>
        </p:nvSpPr>
        <p:spPr>
          <a:xfrm>
            <a:off x="558105" y="1228353"/>
            <a:ext cx="3936429" cy="7434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Real-time status display plus structured appointment booking — no more blind visits.</a:t>
            </a:r>
            <a:endParaRPr lang="en-US" sz="450" dirty="0"/>
          </a:p>
        </p:txBody>
      </p:sp>
      <p:sp>
        <p:nvSpPr>
          <p:cNvPr id="13" name="Shape 11"/>
          <p:cNvSpPr/>
          <p:nvPr/>
        </p:nvSpPr>
        <p:spPr>
          <a:xfrm>
            <a:off x="4587478" y="1050875"/>
            <a:ext cx="4060403" cy="313804"/>
          </a:xfrm>
          <a:prstGeom prst="roundRect">
            <a:avLst>
              <a:gd name="adj" fmla="val 2965"/>
            </a:avLst>
          </a:prstGeom>
          <a:solidFill>
            <a:srgbClr val="F0EDE6"/>
          </a:solidFill>
        </p:spPr>
      </p:sp>
      <p:sp>
        <p:nvSpPr>
          <p:cNvPr id="14" name="Text 12"/>
          <p:cNvSpPr/>
          <p:nvPr/>
        </p:nvSpPr>
        <p:spPr>
          <a:xfrm>
            <a:off x="4649465" y="1112862"/>
            <a:ext cx="791617" cy="9688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Centralised Dashboard</a:t>
            </a:r>
            <a:endParaRPr lang="en-US" sz="600" dirty="0"/>
          </a:p>
        </p:txBody>
      </p:sp>
      <p:sp>
        <p:nvSpPr>
          <p:cNvPr id="15" name="Text 13"/>
          <p:cNvSpPr/>
          <p:nvPr/>
        </p:nvSpPr>
        <p:spPr>
          <a:xfrm>
            <a:off x="4649465" y="1228353"/>
            <a:ext cx="3936429" cy="7434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Exam schedules, events, academic alerts, and admin contacts in one trusted platform.</a:t>
            </a:r>
            <a:endParaRPr lang="en-US" sz="450" dirty="0"/>
          </a:p>
        </p:txBody>
      </p:sp>
      <p:pic>
        <p:nvPicPr>
          <p:cNvPr id="1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399505"/>
            <a:ext cx="8151763" cy="3668241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2053268" y="1595948"/>
            <a:ext cx="1426538" cy="22044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Pilot</a:t>
            </a:r>
            <a:endParaRPr lang="en-US" sz="1350" dirty="0"/>
          </a:p>
        </p:txBody>
      </p:sp>
      <p:sp>
        <p:nvSpPr>
          <p:cNvPr id="18" name="Text 15"/>
          <p:cNvSpPr/>
          <p:nvPr/>
        </p:nvSpPr>
        <p:spPr>
          <a:xfrm>
            <a:off x="2053268" y="1879100"/>
            <a:ext cx="1426538" cy="264537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7800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Month 1: 1 dept, 50–100 students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3856036" y="4347129"/>
            <a:ext cx="1434377" cy="22044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Expansion</a:t>
            </a:r>
            <a:endParaRPr lang="en-US" sz="1350" dirty="0"/>
          </a:p>
        </p:txBody>
      </p:sp>
      <p:sp>
        <p:nvSpPr>
          <p:cNvPr id="20" name="Text 17"/>
          <p:cNvSpPr/>
          <p:nvPr/>
        </p:nvSpPr>
        <p:spPr>
          <a:xfrm>
            <a:off x="3856036" y="4630281"/>
            <a:ext cx="1434377" cy="26453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7800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Months 2–3: 5 depts, 500+ users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5603938" y="1502381"/>
            <a:ext cx="1426539" cy="22044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Full Rollout</a:t>
            </a:r>
            <a:endParaRPr lang="en-US" sz="1350" dirty="0"/>
          </a:p>
        </p:txBody>
      </p:sp>
      <p:sp>
        <p:nvSpPr>
          <p:cNvPr id="22" name="Text 19"/>
          <p:cNvSpPr/>
          <p:nvPr/>
        </p:nvSpPr>
        <p:spPr>
          <a:xfrm>
            <a:off x="5603938" y="1785533"/>
            <a:ext cx="1426539" cy="39680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7800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Months 4–6: campus-wide integration</a:t>
            </a:r>
            <a:endParaRPr lang="en-US" sz="1100" dirty="0"/>
          </a:p>
        </p:txBody>
      </p:sp>
      <p:pic>
        <p:nvPicPr>
          <p:cNvPr id="4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8105" y="5974631"/>
            <a:ext cx="77465" cy="61987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73373"/>
            <a:ext cx="3685803" cy="38754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Reflections &amp; Lessons  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06822" y="1246956"/>
            <a:ext cx="4103191" cy="3223171"/>
          </a:xfrm>
          <a:prstGeom prst="roundRect">
            <a:avLst>
              <a:gd name="adj" fmla="val 577"/>
            </a:avLst>
          </a:prstGeom>
          <a:solidFill>
            <a:srgbClr val="1B5F39"/>
          </a:solidFill>
        </p:spPr>
      </p:sp>
      <p:sp>
        <p:nvSpPr>
          <p:cNvPr id="4" name="Text 2"/>
          <p:cNvSpPr/>
          <p:nvPr/>
        </p:nvSpPr>
        <p:spPr>
          <a:xfrm>
            <a:off x="530796" y="1370930"/>
            <a:ext cx="2007766" cy="19384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Biggest Surprise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30796" y="1688753"/>
            <a:ext cx="3855244" cy="595387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Students trusted WhatsApp groups and seniors more than official institutional systems — revealing a deep </a:t>
            </a:r>
            <a:r>
              <a:rPr lang="en-US" sz="950" b="1" dirty="0">
                <a:solidFill>
                  <a:srgbClr val="FFFFFF"/>
                </a:solidFill>
                <a:latin typeface="Lora Bold" pitchFamily="34" charset="0"/>
                <a:ea typeface="Lora Bold" pitchFamily="34" charset="-122"/>
                <a:cs typeface="Lora Bold" pitchFamily="34" charset="-120"/>
              </a:rPr>
              <a:t>confidence gap</a:t>
            </a:r>
            <a:r>
              <a:rPr lang="en-US" sz="950" dirty="0">
                <a:solidFill>
                  <a:srgbClr val="FFFFF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, not merely an information gap.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530796" y="2408113"/>
            <a:ext cx="2213446" cy="19384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What We'd Do Differently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30796" y="2725936"/>
            <a:ext cx="3855244" cy="595387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Prototype earlier — even before defining. Recruit more hostellers and first-year students, who are most disoriented and have the most to gain.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530796" y="3445297"/>
            <a:ext cx="2007766" cy="19384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Skills Developed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30796" y="3763119"/>
            <a:ext cx="3855244" cy="595387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Deep active listening, bias reduction in research, and an iterative mindset — learning that adding features often </a:t>
            </a:r>
            <a:r>
              <a:rPr lang="en-US" sz="950" i="1" dirty="0">
                <a:solidFill>
                  <a:srgbClr val="FFFFF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worsens</a:t>
            </a:r>
            <a:r>
              <a:rPr lang="en-US" sz="950" dirty="0">
                <a:solidFill>
                  <a:srgbClr val="FFFFF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the experience.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728046" y="1386483"/>
            <a:ext cx="14288" cy="1017017"/>
          </a:xfrm>
          <a:prstGeom prst="roundRect">
            <a:avLst>
              <a:gd name="adj" fmla="val 59998"/>
            </a:avLst>
          </a:prstGeom>
          <a:solidFill>
            <a:srgbClr val="1B5F39"/>
          </a:solidFill>
        </p:spPr>
      </p:sp>
      <p:sp>
        <p:nvSpPr>
          <p:cNvPr id="11" name="Text 9"/>
          <p:cNvSpPr/>
          <p:nvPr/>
        </p:nvSpPr>
        <p:spPr>
          <a:xfrm>
            <a:off x="4914081" y="1498104"/>
            <a:ext cx="3738562" cy="793849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"Real problems are frequently behavioural and emotional rather than merely technical or operational. Good design makes people feel supported, confident, and less stressed — not just better-informed."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499446" y="2543101"/>
            <a:ext cx="4381798" cy="19846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950" i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— Core Lesson, Smart Campus Design Thinking Project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728046" y="2912046"/>
            <a:ext cx="3924598" cy="14288"/>
          </a:xfrm>
          <a:prstGeom prst="roundRect">
            <a:avLst>
              <a:gd name="adj" fmla="val 59998"/>
            </a:avLst>
          </a:prstGeom>
          <a:solidFill>
            <a:srgbClr val="2C2821">
              <a:alpha val="50000"/>
            </a:srgbClr>
          </a:solidFill>
        </p:spPr>
      </p:sp>
      <p:sp>
        <p:nvSpPr>
          <p:cNvPr id="14" name="Text 12"/>
          <p:cNvSpPr/>
          <p:nvPr/>
        </p:nvSpPr>
        <p:spPr>
          <a:xfrm>
            <a:off x="4728046" y="3096816"/>
            <a:ext cx="4381798" cy="19846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90674"/>
            <a:ext cx="2153096" cy="21193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The Team</a:t>
            </a:r>
            <a:endParaRPr lang="en-US" sz="13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699864"/>
            <a:ext cx="1497955" cy="149795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96119" y="2239491"/>
            <a:ext cx="1497955" cy="251817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5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I'm Yuvetha - Just a girl passionate about valuation and private equity while pretending Excel doesn’t scare her sometimes.</a:t>
            </a:r>
            <a:endParaRPr lang="en-US" sz="5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1509" y="699864"/>
            <a:ext cx="723602" cy="788343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2164333" y="1529879"/>
            <a:ext cx="1497955" cy="251817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5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I’m Pujita — I enjoy working with people so much that I chose HR as both my career and personality.</a:t>
            </a:r>
            <a:endParaRPr lang="en-US" sz="5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32547" y="699864"/>
            <a:ext cx="1497955" cy="1540371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3832547" y="2281907"/>
            <a:ext cx="1497955" cy="33575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5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I'm Sri Durga-Business Analytics student with experience in business development, customer service, data analytics, and passionate about analytics, strategy and innovation.</a:t>
            </a:r>
            <a:endParaRPr lang="en-US" sz="500" dirty="0"/>
          </a:p>
        </p:txBody>
      </p:sp>
      <p:pic>
        <p:nvPicPr>
          <p:cNvPr id="9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00762" y="699864"/>
            <a:ext cx="611609" cy="815429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5500762" y="1556965"/>
            <a:ext cx="1497955" cy="251817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5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I'm Jenifa, a PGDM student passionate about business intelligence, problem-solving, and leveraging data to drive growth and innovation.</a:t>
            </a:r>
            <a:endParaRPr lang="en-US" sz="500" dirty="0"/>
          </a:p>
        </p:txBody>
      </p:sp>
      <p:pic>
        <p:nvPicPr>
          <p:cNvPr id="11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68976" y="699864"/>
            <a:ext cx="977578" cy="1162496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7168976" y="1904033"/>
            <a:ext cx="1497955" cy="33575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5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I'm Nandu. Turning coffee and curiosity into finance and analytics skills while navigating presentations, deadlines, and continuous learning.</a:t>
            </a:r>
            <a:endParaRPr lang="en-US" sz="500" dirty="0"/>
          </a:p>
        </p:txBody>
      </p:sp>
      <p:pic>
        <p:nvPicPr>
          <p:cNvPr id="13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6119" y="2734345"/>
            <a:ext cx="1006822" cy="1607641"/>
          </a:xfrm>
          <a:prstGeom prst="rect">
            <a:avLst/>
          </a:prstGeom>
        </p:spPr>
      </p:pic>
      <p:sp>
        <p:nvSpPr>
          <p:cNvPr id="14" name="Text 6"/>
          <p:cNvSpPr/>
          <p:nvPr/>
        </p:nvSpPr>
        <p:spPr>
          <a:xfrm>
            <a:off x="496119" y="4383658"/>
            <a:ext cx="1497955" cy="16787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5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I'm Nikita, a PGDM Business Analytics student. Into business, science, and figuring things out.</a:t>
            </a:r>
            <a:endParaRPr lang="en-US" sz="500" dirty="0"/>
          </a:p>
        </p:txBody>
      </p:sp>
      <p:pic>
        <p:nvPicPr>
          <p:cNvPr id="15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164333" y="2734345"/>
            <a:ext cx="1497955" cy="1353369"/>
          </a:xfrm>
          <a:prstGeom prst="rect">
            <a:avLst/>
          </a:prstGeom>
        </p:spPr>
      </p:pic>
      <p:sp>
        <p:nvSpPr>
          <p:cNvPr id="16" name="Text 7"/>
          <p:cNvSpPr/>
          <p:nvPr/>
        </p:nvSpPr>
        <p:spPr>
          <a:xfrm>
            <a:off x="2164333" y="4129385"/>
            <a:ext cx="1497955" cy="33575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5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Lekshmi, PGDM Finance student passionate about numbers, analytics, and problem-solving balancing finance concepts, presentationsk, and continuous growth.</a:t>
            </a:r>
            <a:endParaRPr lang="en-US" sz="500" dirty="0"/>
          </a:p>
        </p:txBody>
      </p:sp>
      <p:pic>
        <p:nvPicPr>
          <p:cNvPr id="17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255889" y="2759497"/>
            <a:ext cx="651197" cy="814015"/>
          </a:xfrm>
          <a:prstGeom prst="rect">
            <a:avLst/>
          </a:prstGeom>
        </p:spPr>
      </p:pic>
      <p:sp>
        <p:nvSpPr>
          <p:cNvPr id="18" name="Text 8"/>
          <p:cNvSpPr/>
          <p:nvPr/>
        </p:nvSpPr>
        <p:spPr>
          <a:xfrm>
            <a:off x="3832547" y="3673673"/>
            <a:ext cx="1497955" cy="251817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5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REJOICE here, PGDM Finance student with keen interest in Risk management. Creating a life worth living.</a:t>
            </a:r>
            <a:endParaRPr lang="en-US" sz="500" dirty="0"/>
          </a:p>
        </p:txBody>
      </p:sp>
      <p:pic>
        <p:nvPicPr>
          <p:cNvPr id="19" name="Image 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500762" y="2734345"/>
            <a:ext cx="990600" cy="1485900"/>
          </a:xfrm>
          <a:prstGeom prst="rect">
            <a:avLst/>
          </a:prstGeom>
        </p:spPr>
      </p:pic>
      <p:sp>
        <p:nvSpPr>
          <p:cNvPr id="20" name="Text 9"/>
          <p:cNvSpPr/>
          <p:nvPr/>
        </p:nvSpPr>
        <p:spPr>
          <a:xfrm>
            <a:off x="5500762" y="4261917"/>
            <a:ext cx="1497955" cy="251817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101600" indent="-101600" algn="l">
              <a:lnSpc>
                <a:spcPct val="103000"/>
              </a:lnSpc>
              <a:buSzPct val="100000"/>
              <a:buChar char="​"/>
            </a:pPr>
            <a:r>
              <a:rPr lang="en-US" sz="5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Myself Karthik , International Business student with a creative mindset and I'm pretty people centric !</a:t>
            </a:r>
            <a:endParaRPr lang="en-US" sz="500" dirty="0"/>
          </a:p>
        </p:txBody>
      </p:sp>
      <p:sp>
        <p:nvSpPr>
          <p:cNvPr id="21" name="Shape 10"/>
          <p:cNvSpPr/>
          <p:nvPr/>
        </p:nvSpPr>
        <p:spPr>
          <a:xfrm>
            <a:off x="5500762" y="4269879"/>
            <a:ext cx="67791" cy="67791"/>
          </a:xfrm>
          <a:prstGeom prst="roundRect">
            <a:avLst>
              <a:gd name="adj" fmla="val 15010"/>
            </a:avLst>
          </a:prstGeom>
          <a:noFill/>
          <a:ln w="4763">
            <a:solidFill>
              <a:srgbClr val="1B5F39"/>
            </a:solidFill>
            <a:prstDash val="solid"/>
          </a:ln>
        </p:spPr>
      </p:sp>
      <p:pic>
        <p:nvPicPr>
          <p:cNvPr id="22" name="Image 9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168976" y="2734345"/>
            <a:ext cx="1205805" cy="1607716"/>
          </a:xfrm>
          <a:prstGeom prst="rect">
            <a:avLst/>
          </a:prstGeom>
        </p:spPr>
      </p:pic>
      <p:sp>
        <p:nvSpPr>
          <p:cNvPr id="23" name="Text 11"/>
          <p:cNvSpPr/>
          <p:nvPr/>
        </p:nvSpPr>
        <p:spPr>
          <a:xfrm>
            <a:off x="7168976" y="4383732"/>
            <a:ext cx="1497955" cy="33575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5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I’m Shreya Sen, currently pursuing my PGDM with a major in Analytics at Jagdish Sheth School of Management, with a background in Biotechnology.</a:t>
            </a:r>
            <a:endParaRPr lang="en-US" sz="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10823</Words>
  <Application>WPS Writer</Application>
  <PresentationFormat>On-screen Show (16:9)</PresentationFormat>
  <Paragraphs>381</Paragraphs>
  <Slides>12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20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33" baseType="lpstr">
      <vt:lpstr>Arial</vt:lpstr>
      <vt:lpstr>SimSun</vt:lpstr>
      <vt:lpstr>Wingdings</vt:lpstr>
      <vt:lpstr>Alice</vt:lpstr>
      <vt:lpstr>Alice</vt:lpstr>
      <vt:lpstr>Alice</vt:lpstr>
      <vt:lpstr>Lora</vt:lpstr>
      <vt:lpstr>Lora</vt:lpstr>
      <vt:lpstr>Lora</vt:lpstr>
      <vt:lpstr>Lora Bold</vt:lpstr>
      <vt:lpstr>苹方-简</vt:lpstr>
      <vt:lpstr>Lora Bold</vt:lpstr>
      <vt:lpstr>Lora Bold</vt:lpstr>
      <vt:lpstr>Calibri</vt:lpstr>
      <vt:lpstr>Helvetica Neue</vt:lpstr>
      <vt:lpstr>Microsoft YaHei</vt:lpstr>
      <vt:lpstr>汉仪旗黑</vt:lpstr>
      <vt:lpstr>Arial Unicode MS</vt:lpstr>
      <vt:lpstr>Apple Color Emoji</vt:lpstr>
      <vt:lpstr>宋体-简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Jenifa X</cp:lastModifiedBy>
  <cp:revision>4</cp:revision>
  <dcterms:created xsi:type="dcterms:W3CDTF">2026-07-05T08:25:57Z</dcterms:created>
  <dcterms:modified xsi:type="dcterms:W3CDTF">2026-07-05T08:25:57Z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EED63A0EA45A9B0415154A6A2244F25A_43</vt:lpwstr>
  </property>
  <property fmtid="{D5CDD505-2E9C-101B-9397-08002B2CF9AE}" pid="3" name="KSOProductBuildVer">
    <vt:lpwstr>1033-12.1.23153.23153</vt:lpwstr>
  </property>
</Properties>
</file>